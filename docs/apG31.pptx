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rgbClr val="D4AF37"/>
          </a:solidFill>
          <a:ln/>
        </p:spPr>
      </p:sp>
      <p:sp>
        <p:nvSpPr>
          <p:cNvPr id="3" name="Shape 1"/>
          <p:cNvSpPr/>
          <p:nvPr/>
        </p:nvSpPr>
        <p:spPr>
          <a:xfrm>
            <a:off x="10515600" y="0"/>
            <a:ext cx="1673352" cy="6858000"/>
          </a:xfrm>
          <a:prstGeom prst="rect">
            <a:avLst/>
          </a:prstGeom>
          <a:solidFill>
            <a:srgbClr val="0F2440"/>
          </a:solidFill>
          <a:ln/>
        </p:spPr>
      </p:sp>
      <p:sp>
        <p:nvSpPr>
          <p:cNvPr id="4" name="Text 2"/>
          <p:cNvSpPr/>
          <p:nvPr/>
        </p:nvSpPr>
        <p:spPr>
          <a:xfrm>
            <a:off x="914400" y="1645920"/>
            <a:ext cx="100584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Tessera</a:t>
            </a:r>
            <a:endParaRPr lang="en-US" sz="9600" dirty="0"/>
          </a:p>
        </p:txBody>
      </p:sp>
      <p:sp>
        <p:nvSpPr>
          <p:cNvPr id="5" name="Text 3"/>
          <p:cNvSpPr/>
          <p:nvPr/>
        </p:nvSpPr>
        <p:spPr>
          <a:xfrm>
            <a:off x="914400" y="292608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i="1" dirty="0">
                <a:solidFill>
                  <a:srgbClr val="D4AF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Gestão de clubes e bilheteira digital</a:t>
            </a:r>
            <a:endParaRPr lang="en-US" sz="2400" dirty="0"/>
          </a:p>
        </p:txBody>
      </p:sp>
      <p:sp>
        <p:nvSpPr>
          <p:cNvPr id="6" name="Shape 4"/>
          <p:cNvSpPr/>
          <p:nvPr/>
        </p:nvSpPr>
        <p:spPr>
          <a:xfrm>
            <a:off x="914400" y="3657600"/>
            <a:ext cx="365760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914400" y="38404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400" kern="0" dirty="0">
                <a:solidFill>
                  <a:srgbClr val="B8C5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APRESENTAÇÃO DE PROGRESSO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914400" y="4297680"/>
            <a:ext cx="100584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Grupo 31
</a:t>
            </a:r>
            <a:pPr indent="0" marL="0">
              <a:buNone/>
            </a:pPr>
            <a:r>
              <a:rPr lang="en-US" sz="1600" dirty="0">
                <a:solidFill>
                  <a:srgbClr val="B8C5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Bruno Pinto, n.º 48064
</a:t>
            </a:r>
            <a:pPr indent="0" marL="0">
              <a:buNone/>
            </a:pPr>
            <a:r>
              <a:rPr lang="en-US" sz="1600" dirty="0">
                <a:solidFill>
                  <a:srgbClr val="B8C5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Daniel Cabaça, n.º 48070
</a:t>
            </a:r>
            <a:pPr indent="0" marL="0">
              <a:buNone/>
            </a:pPr>
            <a:r>
              <a:rPr lang="en-US" sz="1400" i="1" dirty="0">
                <a:solidFill>
                  <a:srgbClr val="B8C5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Orientador: José Faustino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914400" y="621792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B8C5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ISEL | Licenciatura em Engenharia Informática e de Computadores | 2025/2026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65760"/>
            <a:ext cx="137160" cy="822960"/>
          </a:xfrm>
          <a:prstGeom prst="rect">
            <a:avLst/>
          </a:prstGeom>
          <a:solidFill>
            <a:srgbClr val="D4AF37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320040"/>
            <a:ext cx="11430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é o Tessera?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11430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Motivação, contexto e visão geral da solução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365760" y="1463040"/>
            <a:ext cx="5577840" cy="4754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65760" y="1463040"/>
            <a:ext cx="5577840" cy="457200"/>
          </a:xfrm>
          <a:prstGeom prst="rect">
            <a:avLst/>
          </a:prstGeom>
          <a:solidFill>
            <a:srgbClr val="C73E1D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1481328"/>
            <a:ext cx="52120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PROBLEMA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40080" y="2103120"/>
            <a:ext cx="5029200" cy="402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Clubes de futebol de divisões inferiores em Portugal enfrentam desafios operacionais por falta de ferramentas digitais.
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 Bilhetes em papel — custos de impressão, risco de falsificação, dificuldade no controlo de entradas
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 Ficha técnica preenchida à mão — erros, atrasos e dificuldade de consulta
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 Sem rastreio de vendas, sem historico digital, sem análise de dados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263640" y="1463040"/>
            <a:ext cx="5577840" cy="4754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6263640" y="1463040"/>
            <a:ext cx="5577840" cy="457200"/>
          </a:xfrm>
          <a:prstGeom prst="rect">
            <a:avLst/>
          </a:prstGeom>
          <a:solidFill>
            <a:srgbClr val="3A7D44"/>
          </a:solidFill>
          <a:ln/>
        </p:spPr>
      </p:sp>
      <p:sp>
        <p:nvSpPr>
          <p:cNvPr id="11" name="Text 9"/>
          <p:cNvSpPr/>
          <p:nvPr/>
        </p:nvSpPr>
        <p:spPr>
          <a:xfrm>
            <a:off x="6446520" y="1481328"/>
            <a:ext cx="521208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SOLUÇÃO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537960" y="2103120"/>
            <a:ext cx="5029200" cy="402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Plataforma digital para gestão completa de bilheteira e ficha técnica dos jogos.
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 Aplicação web (React SPA) para administradores e adeptos
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 Aplicação Android para validação de bilhetes e ficha técnica
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 Bilhetes digitais com QR code (MB WAY, multibanco, dinheiro)
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 Registo de ocorrências do jogo em tempo real
</a:t>
            </a:r>
            <a:pPr indent="0" marL="0">
              <a:buNone/>
            </a:pPr>
            <a:r>
              <a:rPr lang="en-US" sz="13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 Histórico digital de jogos e relatórios de bilheteira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365760" y="5989320"/>
            <a:ext cx="11430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Caso de uso real: </a:t>
            </a:r>
            <a:pPr algn="ctr" indent="0" marL="0">
              <a:buNone/>
            </a:pPr>
            <a:r>
              <a:rPr lang="en-US" sz="1200" i="1" dirty="0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 1.º Dezembro — clube parceiro disponível para cooperar na elaboração da solução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365760" y="644652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Tessera | Projeto e Seminário | Grupo 31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11521440" y="644652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65760"/>
            <a:ext cx="137160" cy="822960"/>
          </a:xfrm>
          <a:prstGeom prst="rect">
            <a:avLst/>
          </a:prstGeom>
          <a:solidFill>
            <a:srgbClr val="D4AF37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320040"/>
            <a:ext cx="11430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Requisitos &amp; Perfis de utilizador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11430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Três perfis distintos com necessidades diferentes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335128" y="1417320"/>
            <a:ext cx="3657600" cy="4663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35128" y="1417320"/>
            <a:ext cx="3657600" cy="100584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7" name="Shape 5"/>
          <p:cNvSpPr/>
          <p:nvPr/>
        </p:nvSpPr>
        <p:spPr>
          <a:xfrm>
            <a:off x="1706728" y="1600200"/>
            <a:ext cx="914400" cy="9144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1E3A5F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706728" y="1600200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335128" y="269748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Administrador</a:t>
            </a:r>
            <a:endParaRPr lang="en-US" sz="2200" dirty="0"/>
          </a:p>
        </p:txBody>
      </p:sp>
      <p:sp>
        <p:nvSpPr>
          <p:cNvPr id="10" name="Shape 8"/>
          <p:cNvSpPr/>
          <p:nvPr/>
        </p:nvSpPr>
        <p:spPr>
          <a:xfrm>
            <a:off x="1706728" y="3200400"/>
            <a:ext cx="91440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09448" y="3383280"/>
            <a:ext cx="3108960" cy="2651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Gestão de clubes e equipas
</a:t>
            </a:r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Gestão de jogadores e plantéis
</a:t>
            </a:r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Criação de jogos e eventos
</a:t>
            </a:r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Configuração de bilheteira
</a:t>
            </a:r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Consulta de relatórios e estatísticas
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4267048" y="1417320"/>
            <a:ext cx="3657600" cy="4663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267048" y="1417320"/>
            <a:ext cx="3657600" cy="1005840"/>
          </a:xfrm>
          <a:prstGeom prst="rect">
            <a:avLst/>
          </a:prstGeom>
          <a:solidFill>
            <a:srgbClr val="3A7D44"/>
          </a:solidFill>
          <a:ln/>
        </p:spPr>
      </p:sp>
      <p:sp>
        <p:nvSpPr>
          <p:cNvPr id="14" name="Shape 12"/>
          <p:cNvSpPr/>
          <p:nvPr/>
        </p:nvSpPr>
        <p:spPr>
          <a:xfrm>
            <a:off x="5638648" y="1600200"/>
            <a:ext cx="914400" cy="9144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3A7D44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5638648" y="1600200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3A7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STF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4267048" y="269748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Staff</a:t>
            </a:r>
            <a:endParaRPr lang="en-US" sz="2200" dirty="0"/>
          </a:p>
        </p:txBody>
      </p:sp>
      <p:sp>
        <p:nvSpPr>
          <p:cNvPr id="17" name="Shape 15"/>
          <p:cNvSpPr/>
          <p:nvPr/>
        </p:nvSpPr>
        <p:spPr>
          <a:xfrm>
            <a:off x="5638648" y="3200400"/>
            <a:ext cx="91440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41368" y="3383280"/>
            <a:ext cx="3108960" cy="2651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Validação de bilhetes (QR code)
</a:t>
            </a:r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Preenchimento da ficha técnica
</a:t>
            </a:r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Registo de ocorrências em tempo real (golos, cartões, substituições)
</a:t>
            </a:r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Operações no dia de jogo
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8198968" y="1417320"/>
            <a:ext cx="3657600" cy="4663440"/>
          </a:xfrm>
          <a:prstGeom prst="rect">
            <a:avLst/>
          </a:prstGeom>
          <a:solidFill>
            <a:srgbClr val="FFFFFF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198968" y="1417320"/>
            <a:ext cx="3657600" cy="1005840"/>
          </a:xfrm>
          <a:prstGeom prst="rect">
            <a:avLst/>
          </a:prstGeom>
          <a:solidFill>
            <a:srgbClr val="C73E1D"/>
          </a:solidFill>
          <a:ln/>
        </p:spPr>
      </p:sp>
      <p:sp>
        <p:nvSpPr>
          <p:cNvPr id="21" name="Shape 19"/>
          <p:cNvSpPr/>
          <p:nvPr/>
        </p:nvSpPr>
        <p:spPr>
          <a:xfrm>
            <a:off x="9570568" y="1600200"/>
            <a:ext cx="914400" cy="91440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C73E1D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570568" y="1600200"/>
            <a:ext cx="9144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C73E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FAN</a:t>
            </a:r>
            <a:endParaRPr lang="en-US" sz="1800" dirty="0"/>
          </a:p>
        </p:txBody>
      </p:sp>
      <p:sp>
        <p:nvSpPr>
          <p:cNvPr id="23" name="Text 21"/>
          <p:cNvSpPr/>
          <p:nvPr/>
        </p:nvSpPr>
        <p:spPr>
          <a:xfrm>
            <a:off x="8198968" y="269748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Adepto</a:t>
            </a:r>
            <a:endParaRPr lang="en-US" sz="2200" dirty="0"/>
          </a:p>
        </p:txBody>
      </p:sp>
      <p:sp>
        <p:nvSpPr>
          <p:cNvPr id="24" name="Shape 22"/>
          <p:cNvSpPr/>
          <p:nvPr/>
        </p:nvSpPr>
        <p:spPr>
          <a:xfrm>
            <a:off x="9570568" y="3200400"/>
            <a:ext cx="91440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473288" y="3383280"/>
            <a:ext cx="3108960" cy="2651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Compra de bilhetes digitais
</a:t>
            </a:r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Pagamento via MB WAY
</a:t>
            </a:r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Visualização de bilhete (QR)
</a:t>
            </a:r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Consulta de jogos e resultados
</a:t>
            </a:r>
            <a:pPr indent="0" marL="0">
              <a:lnSpc>
                <a:spcPts val="1800"/>
              </a:lnSpc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- Acesso a fichas técnicas
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365760" y="6217920"/>
            <a:ext cx="11430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Requisitos não funcionais: </a:t>
            </a:r>
            <a:pPr algn="ctr" indent="0" marL="0">
              <a:buNone/>
            </a:pPr>
            <a:r>
              <a:rPr lang="en-US" sz="1200" i="1" dirty="0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Desempenho (validação rápida) - Segurança (RBAC + HTTPS) - Disponibilidade - Usabilidade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365760" y="644652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Tessera | Projeto e Seminário | Grupo 31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11521440" y="644652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65760"/>
            <a:ext cx="137160" cy="822960"/>
          </a:xfrm>
          <a:prstGeom prst="rect">
            <a:avLst/>
          </a:prstGeom>
          <a:solidFill>
            <a:srgbClr val="D4AF37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320040"/>
            <a:ext cx="11430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Arquitetura do sistema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11430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Microsserviços, BFF e isolamento de dados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1371600" y="1554480"/>
            <a:ext cx="2286000" cy="640080"/>
          </a:xfrm>
          <a:prstGeom prst="roundRect">
            <a:avLst>
              <a:gd name="adj" fmla="val 7143"/>
            </a:avLst>
          </a:prstGeom>
          <a:solidFill>
            <a:srgbClr val="D4AF37"/>
          </a:solidFill>
          <a:ln w="12700">
            <a:solidFill>
              <a:srgbClr val="0F244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371600" y="1554480"/>
            <a:ext cx="2286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SPA</a:t>
            </a:r>
            <a:pPr algn="ctr" indent="0" marL="0">
              <a:buNone/>
            </a:pPr>
            <a:endParaRPr lang="en-US" sz="1300" dirty="0"/>
          </a:p>
          <a:p>
            <a:pPr algn="ctr" indent="0" marL="0">
              <a:buNone/>
            </a:pPr>
            <a:r>
              <a:rPr lang="en-US" sz="9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Frontend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114800" y="1554480"/>
            <a:ext cx="2286000" cy="640080"/>
          </a:xfrm>
          <a:prstGeom prst="roundRect">
            <a:avLst>
              <a:gd name="adj" fmla="val 7143"/>
            </a:avLst>
          </a:prstGeom>
          <a:solidFill>
            <a:srgbClr val="D4AF37"/>
          </a:solidFill>
          <a:ln w="12700">
            <a:solidFill>
              <a:srgbClr val="0F244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114800" y="1554480"/>
            <a:ext cx="2286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Android App</a:t>
            </a:r>
            <a:pPr algn="ctr" indent="0" marL="0">
              <a:buNone/>
            </a:pPr>
            <a:endParaRPr lang="en-US" sz="1300" dirty="0"/>
          </a:p>
          <a:p>
            <a:pPr algn="ctr" indent="0" marL="0">
              <a:buNone/>
            </a:pPr>
            <a:r>
              <a:rPr lang="en-US" sz="9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Mobile (staff + adeptos)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8229600" y="1554480"/>
            <a:ext cx="2743200" cy="640080"/>
          </a:xfrm>
          <a:prstGeom prst="roundRect">
            <a:avLst>
              <a:gd name="adj" fmla="val 7143"/>
            </a:avLst>
          </a:prstGeom>
          <a:solidFill>
            <a:srgbClr val="8B6F47"/>
          </a:solidFill>
          <a:ln w="12700">
            <a:solidFill>
              <a:srgbClr val="0F244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229600" y="1554480"/>
            <a:ext cx="2743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Keycloak</a:t>
            </a:r>
            <a:pPr algn="ctr" indent="0" marL="0">
              <a:buNone/>
            </a:pPr>
            <a:endParaRPr lang="en-US" sz="1300" dirty="0"/>
          </a:p>
          <a:p>
            <a:pPr algn="ctr" indent="0" marL="0">
              <a:buNone/>
            </a:pPr>
            <a:r>
              <a:rPr lang="en-US" sz="9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 + RBAC :8180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2286000" y="2560320"/>
            <a:ext cx="4572000" cy="640080"/>
          </a:xfrm>
          <a:prstGeom prst="roundRect">
            <a:avLst>
              <a:gd name="adj" fmla="val 7143"/>
            </a:avLst>
          </a:prstGeom>
          <a:solidFill>
            <a:srgbClr val="1E3A5F"/>
          </a:solidFill>
          <a:ln w="12700">
            <a:solidFill>
              <a:srgbClr val="0F244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2286000" y="2560320"/>
            <a:ext cx="45720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NGINX :8000</a:t>
            </a:r>
            <a:pPr algn="ctr" indent="0" marL="0">
              <a:buNone/>
            </a:pPr>
            <a:endParaRPr lang="en-US" sz="1300" dirty="0"/>
          </a:p>
          <a:p>
            <a:pPr algn="ctr" indent="0" marL="0">
              <a:buNone/>
            </a:pPr>
            <a:r>
              <a:rPr lang="en-US" sz="9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Reverse proxy + Frontend SPA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2468880" y="2194560"/>
            <a:ext cx="731520" cy="365760"/>
          </a:xfrm>
          <a:prstGeom prst="line">
            <a:avLst/>
          </a:prstGeom>
          <a:noFill/>
          <a:ln w="19050">
            <a:solidFill>
              <a:srgbClr val="0F2440"/>
            </a:solidFill>
            <a:prstDash val="solid"/>
            <a:tailEnd type="triangle"/>
          </a:ln>
        </p:spPr>
      </p:sp>
      <p:sp>
        <p:nvSpPr>
          <p:cNvPr id="14" name="Shape 12"/>
          <p:cNvSpPr/>
          <p:nvPr/>
        </p:nvSpPr>
        <p:spPr>
          <a:xfrm>
            <a:off x="5212080" y="2194560"/>
            <a:ext cx="-182880" cy="365760"/>
          </a:xfrm>
          <a:prstGeom prst="line">
            <a:avLst/>
          </a:prstGeom>
          <a:noFill/>
          <a:ln w="19050">
            <a:solidFill>
              <a:srgbClr val="0F2440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6858000" y="2880360"/>
            <a:ext cx="1371600" cy="0"/>
          </a:xfrm>
          <a:prstGeom prst="line">
            <a:avLst/>
          </a:prstGeom>
          <a:noFill/>
          <a:ln w="19050">
            <a:solidFill>
              <a:srgbClr val="0F2440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6400800" y="1874520"/>
            <a:ext cx="1828800" cy="0"/>
          </a:xfrm>
          <a:prstGeom prst="line">
            <a:avLst/>
          </a:prstGeom>
          <a:noFill/>
          <a:ln w="19050">
            <a:solidFill>
              <a:srgbClr val="0F2440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4114800" y="3566160"/>
            <a:ext cx="4114800" cy="640080"/>
          </a:xfrm>
          <a:prstGeom prst="roundRect">
            <a:avLst>
              <a:gd name="adj" fmla="val 7143"/>
            </a:avLst>
          </a:prstGeom>
          <a:solidFill>
            <a:srgbClr val="C73E1D"/>
          </a:solidFill>
          <a:ln w="12700">
            <a:solidFill>
              <a:srgbClr val="0F244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114800" y="3566160"/>
            <a:ext cx="4114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BFF Service :8080</a:t>
            </a:r>
            <a:pPr algn="ctr" indent="0" marL="0">
              <a:buNone/>
            </a:pPr>
            <a:endParaRPr lang="en-US" sz="1300" dirty="0"/>
          </a:p>
          <a:p>
            <a:pPr algn="ctr" indent="0" marL="0">
              <a:buNone/>
            </a:pPr>
            <a:r>
              <a:rPr lang="en-US" sz="9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 for Frontend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4572000" y="3200400"/>
            <a:ext cx="640080" cy="365760"/>
          </a:xfrm>
          <a:prstGeom prst="line">
            <a:avLst/>
          </a:prstGeom>
          <a:noFill/>
          <a:ln w="19050">
            <a:solidFill>
              <a:srgbClr val="0F2440"/>
            </a:solidFill>
            <a:prstDash val="solid"/>
            <a:tailEnd type="triangle"/>
          </a:ln>
        </p:spPr>
      </p:sp>
      <p:sp>
        <p:nvSpPr>
          <p:cNvPr id="20" name="Shape 18"/>
          <p:cNvSpPr/>
          <p:nvPr/>
        </p:nvSpPr>
        <p:spPr>
          <a:xfrm>
            <a:off x="640080" y="4572000"/>
            <a:ext cx="3200400" cy="640080"/>
          </a:xfrm>
          <a:prstGeom prst="roundRect">
            <a:avLst>
              <a:gd name="adj" fmla="val 7143"/>
            </a:avLst>
          </a:prstGeom>
          <a:solidFill>
            <a:srgbClr val="3A7D44"/>
          </a:solidFill>
          <a:ln w="12700">
            <a:solidFill>
              <a:srgbClr val="0F2440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40080" y="4572000"/>
            <a:ext cx="3200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ticket-service :8081</a:t>
            </a:r>
            <a:pPr algn="ctr" indent="0" marL="0">
              <a:buNone/>
            </a:pPr>
            <a:endParaRPr lang="en-US" sz="1300" dirty="0"/>
          </a:p>
          <a:p>
            <a:pPr algn="ctr" indent="0" marL="0">
              <a:buNone/>
            </a:pPr>
            <a:r>
              <a:rPr lang="en-US" sz="9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Bilheteira + pagamentos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4480560" y="4572000"/>
            <a:ext cx="3200400" cy="640080"/>
          </a:xfrm>
          <a:prstGeom prst="roundRect">
            <a:avLst>
              <a:gd name="adj" fmla="val 7143"/>
            </a:avLst>
          </a:prstGeom>
          <a:solidFill>
            <a:srgbClr val="3A7D44"/>
          </a:solidFill>
          <a:ln w="12700">
            <a:solidFill>
              <a:srgbClr val="0F244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480560" y="4572000"/>
            <a:ext cx="3200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match-service :8082</a:t>
            </a:r>
            <a:pPr algn="ctr" indent="0" marL="0">
              <a:buNone/>
            </a:pPr>
            <a:endParaRPr lang="en-US" sz="1300" dirty="0"/>
          </a:p>
          <a:p>
            <a:pPr algn="ctr" indent="0" marL="0">
              <a:buNone/>
            </a:pPr>
            <a:r>
              <a:rPr lang="en-US" sz="9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Jogos, fichas, clubes, jogadores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8321040" y="4572000"/>
            <a:ext cx="3200400" cy="640080"/>
          </a:xfrm>
          <a:prstGeom prst="roundRect">
            <a:avLst>
              <a:gd name="adj" fmla="val 7143"/>
            </a:avLst>
          </a:prstGeom>
          <a:solidFill>
            <a:srgbClr val="3A7D44"/>
          </a:solidFill>
          <a:ln w="12700">
            <a:solidFill>
              <a:srgbClr val="0F2440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321040" y="4572000"/>
            <a:ext cx="3200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statistics-service :8083</a:t>
            </a:r>
            <a:pPr algn="ctr" indent="0" marL="0">
              <a:buNone/>
            </a:pPr>
            <a:endParaRPr lang="en-US" sz="1300" dirty="0"/>
          </a:p>
          <a:p>
            <a:pPr algn="ctr" indent="0" marL="0">
              <a:buNone/>
            </a:pPr>
            <a:r>
              <a:rPr lang="en-US" sz="9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Relatórios e analytics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5029200" y="4206240"/>
            <a:ext cx="-2743200" cy="365760"/>
          </a:xfrm>
          <a:prstGeom prst="line">
            <a:avLst/>
          </a:prstGeom>
          <a:noFill/>
          <a:ln w="19050">
            <a:solidFill>
              <a:srgbClr val="0F2440"/>
            </a:solidFill>
            <a:prstDash val="solid"/>
            <a:tailEnd type="triangle"/>
          </a:ln>
        </p:spPr>
      </p:sp>
      <p:sp>
        <p:nvSpPr>
          <p:cNvPr id="27" name="Shape 25"/>
          <p:cNvSpPr/>
          <p:nvPr/>
        </p:nvSpPr>
        <p:spPr>
          <a:xfrm>
            <a:off x="6126480" y="4206240"/>
            <a:ext cx="-182880" cy="365760"/>
          </a:xfrm>
          <a:prstGeom prst="line">
            <a:avLst/>
          </a:prstGeom>
          <a:noFill/>
          <a:ln w="19050">
            <a:solidFill>
              <a:srgbClr val="0F2440"/>
            </a:solidFill>
            <a:prstDash val="solid"/>
            <a:tailEnd type="triangle"/>
          </a:ln>
        </p:spPr>
      </p:sp>
      <p:sp>
        <p:nvSpPr>
          <p:cNvPr id="28" name="Shape 26"/>
          <p:cNvSpPr/>
          <p:nvPr/>
        </p:nvSpPr>
        <p:spPr>
          <a:xfrm>
            <a:off x="7315200" y="4206240"/>
            <a:ext cx="2286000" cy="365760"/>
          </a:xfrm>
          <a:prstGeom prst="line">
            <a:avLst/>
          </a:prstGeom>
          <a:noFill/>
          <a:ln w="19050">
            <a:solidFill>
              <a:srgbClr val="0F2440"/>
            </a:solidFill>
            <a:prstDash val="solid"/>
            <a:tailEnd type="triangle"/>
          </a:ln>
        </p:spPr>
      </p:sp>
      <p:sp>
        <p:nvSpPr>
          <p:cNvPr id="29" name="Shape 27"/>
          <p:cNvSpPr/>
          <p:nvPr/>
        </p:nvSpPr>
        <p:spPr>
          <a:xfrm>
            <a:off x="640080" y="5577840"/>
            <a:ext cx="3200400" cy="640080"/>
          </a:xfrm>
          <a:prstGeom prst="roundRect">
            <a:avLst>
              <a:gd name="adj" fmla="val 7143"/>
            </a:avLst>
          </a:prstGeom>
          <a:solidFill>
            <a:srgbClr val="5C7AAE"/>
          </a:solidFill>
          <a:ln w="12700">
            <a:solidFill>
              <a:srgbClr val="0F244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40080" y="5577840"/>
            <a:ext cx="3200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tessera_tickets</a:t>
            </a:r>
            <a:pPr algn="ctr" indent="0" marL="0">
              <a:buNone/>
            </a:pPr>
            <a:endParaRPr lang="en-US" sz="1300" dirty="0"/>
          </a:p>
          <a:p>
            <a:pPr algn="ctr" indent="0" marL="0">
              <a:buNone/>
            </a:pPr>
            <a:r>
              <a:rPr lang="en-US" sz="9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 16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4480560" y="5577840"/>
            <a:ext cx="3200400" cy="640080"/>
          </a:xfrm>
          <a:prstGeom prst="roundRect">
            <a:avLst>
              <a:gd name="adj" fmla="val 7143"/>
            </a:avLst>
          </a:prstGeom>
          <a:solidFill>
            <a:srgbClr val="5C7AAE"/>
          </a:solidFill>
          <a:ln w="12700">
            <a:solidFill>
              <a:srgbClr val="0F244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480560" y="5577840"/>
            <a:ext cx="3200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tessera_matches</a:t>
            </a:r>
            <a:pPr algn="ctr" indent="0" marL="0">
              <a:buNone/>
            </a:pPr>
            <a:endParaRPr lang="en-US" sz="1300" dirty="0"/>
          </a:p>
          <a:p>
            <a:pPr algn="ctr" indent="0" marL="0">
              <a:buNone/>
            </a:pPr>
            <a:r>
              <a:rPr lang="en-US" sz="9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 16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8321040" y="5577840"/>
            <a:ext cx="3200400" cy="640080"/>
          </a:xfrm>
          <a:prstGeom prst="roundRect">
            <a:avLst>
              <a:gd name="adj" fmla="val 7143"/>
            </a:avLst>
          </a:prstGeom>
          <a:solidFill>
            <a:srgbClr val="5C7AAE"/>
          </a:solidFill>
          <a:ln w="12700">
            <a:solidFill>
              <a:srgbClr val="0F244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8321040" y="5577840"/>
            <a:ext cx="3200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tessera_statistics</a:t>
            </a:r>
            <a:pPr algn="ctr" indent="0" marL="0">
              <a:buNone/>
            </a:pPr>
            <a:endParaRPr lang="en-US" sz="1300" dirty="0"/>
          </a:p>
          <a:p>
            <a:pPr algn="ctr" indent="0" marL="0">
              <a:buNone/>
            </a:pPr>
            <a:r>
              <a:rPr lang="en-US" sz="9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 16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286000" y="5212080"/>
            <a:ext cx="0" cy="365760"/>
          </a:xfrm>
          <a:prstGeom prst="line">
            <a:avLst/>
          </a:prstGeom>
          <a:noFill/>
          <a:ln w="19050">
            <a:solidFill>
              <a:srgbClr val="0F2440"/>
            </a:solidFill>
            <a:prstDash val="solid"/>
            <a:tailEnd type="triangle"/>
          </a:ln>
        </p:spPr>
      </p:sp>
      <p:sp>
        <p:nvSpPr>
          <p:cNvPr id="36" name="Shape 34"/>
          <p:cNvSpPr/>
          <p:nvPr/>
        </p:nvSpPr>
        <p:spPr>
          <a:xfrm>
            <a:off x="6126480" y="5212080"/>
            <a:ext cx="0" cy="365760"/>
          </a:xfrm>
          <a:prstGeom prst="line">
            <a:avLst/>
          </a:prstGeom>
          <a:noFill/>
          <a:ln w="19050">
            <a:solidFill>
              <a:srgbClr val="0F2440"/>
            </a:solidFill>
            <a:prstDash val="solid"/>
            <a:tailEnd type="triangle"/>
          </a:ln>
        </p:spPr>
      </p:sp>
      <p:sp>
        <p:nvSpPr>
          <p:cNvPr id="37" name="Shape 35"/>
          <p:cNvSpPr/>
          <p:nvPr/>
        </p:nvSpPr>
        <p:spPr>
          <a:xfrm>
            <a:off x="9966960" y="5212080"/>
            <a:ext cx="0" cy="365760"/>
          </a:xfrm>
          <a:prstGeom prst="line">
            <a:avLst/>
          </a:prstGeom>
          <a:noFill/>
          <a:ln w="19050">
            <a:solidFill>
              <a:srgbClr val="0F2440"/>
            </a:solidFill>
            <a:prstDash val="solid"/>
            <a:tailEnd type="triangle"/>
          </a:ln>
        </p:spPr>
      </p:sp>
      <p:sp>
        <p:nvSpPr>
          <p:cNvPr id="38" name="Text 36"/>
          <p:cNvSpPr/>
          <p:nvPr/>
        </p:nvSpPr>
        <p:spPr>
          <a:xfrm>
            <a:off x="365760" y="6263640"/>
            <a:ext cx="11430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serviço com BD própria, deploy independente, comunicação via REST síncrono entre BFF e serviços internos.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365760" y="644652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Tessera | Projeto e Seminário | Grupo 31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11521440" y="644652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65760"/>
            <a:ext cx="137160" cy="822960"/>
          </a:xfrm>
          <a:prstGeom prst="rect">
            <a:avLst/>
          </a:prstGeom>
          <a:solidFill>
            <a:srgbClr val="D4AF37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320040"/>
            <a:ext cx="11430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Microsserviços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11430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Responsabilidades e domínio de cada serviço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365760" y="1554480"/>
            <a:ext cx="1143000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F5F2E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65760" y="1554480"/>
            <a:ext cx="137160" cy="1051560"/>
          </a:xfrm>
          <a:prstGeom prst="rect">
            <a:avLst/>
          </a:prstGeom>
          <a:solidFill>
            <a:srgbClr val="C73E1D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1645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BFF Service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640080" y="205740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:8080  </a:t>
            </a:r>
            <a:pPr indent="0" marL="0">
              <a:buNone/>
            </a:pPr>
            <a:r>
              <a:rPr lang="en-US" sz="1100" i="1" dirty="0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(sem BD)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640080" y="2331720"/>
            <a:ext cx="2286000" cy="228600"/>
          </a:xfrm>
          <a:prstGeom prst="roundRect">
            <a:avLst>
              <a:gd name="adj" fmla="val 20000"/>
            </a:avLst>
          </a:prstGeom>
          <a:solidFill>
            <a:srgbClr val="C73E1D"/>
          </a:solidFill>
          <a:ln w="12700">
            <a:solidFill>
              <a:srgbClr val="C73E1D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2331720"/>
            <a:ext cx="2286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 for Frontend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3657600" y="1737360"/>
            <a:ext cx="79552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Ponto de entrada único para a API. Adapta respostas a cada cliente, agrega chamadas a múltiplos serviços.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365760" y="2697480"/>
            <a:ext cx="1143000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F5F2E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697480"/>
            <a:ext cx="137160" cy="1051560"/>
          </a:xfrm>
          <a:prstGeom prst="rect">
            <a:avLst/>
          </a:prstGeom>
          <a:solidFill>
            <a:srgbClr val="3A7D44"/>
          </a:solidFill>
          <a:ln/>
        </p:spPr>
      </p:sp>
      <p:sp>
        <p:nvSpPr>
          <p:cNvPr id="14" name="Text 12"/>
          <p:cNvSpPr/>
          <p:nvPr/>
        </p:nvSpPr>
        <p:spPr>
          <a:xfrm>
            <a:off x="640080" y="2788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Ticket Service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640080" y="320040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:8081  </a:t>
            </a:r>
            <a:pPr indent="0" marL="0">
              <a:buNone/>
            </a:pPr>
            <a:r>
              <a:rPr lang="en-US" sz="1100" i="1" dirty="0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tessera_tickets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640080" y="3474720"/>
            <a:ext cx="2286000" cy="228600"/>
          </a:xfrm>
          <a:prstGeom prst="roundRect">
            <a:avLst>
              <a:gd name="adj" fmla="val 20000"/>
            </a:avLst>
          </a:prstGeom>
          <a:solidFill>
            <a:srgbClr val="3A7D44"/>
          </a:solidFill>
          <a:ln w="12700">
            <a:solidFill>
              <a:srgbClr val="3A7D44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0080" y="3474720"/>
            <a:ext cx="2286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Bilheteira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3657600" y="2880360"/>
            <a:ext cx="79552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Eventos, compra de bilhetes (PENDING → PAID → VALIDATED), validação por QR code, pagamentos.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3840480"/>
            <a:ext cx="1143000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F5F2E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65760" y="3840480"/>
            <a:ext cx="137160" cy="1051560"/>
          </a:xfrm>
          <a:prstGeom prst="rect">
            <a:avLst/>
          </a:prstGeom>
          <a:solidFill>
            <a:srgbClr val="3A7D44"/>
          </a:solidFill>
          <a:ln/>
        </p:spPr>
      </p:sp>
      <p:sp>
        <p:nvSpPr>
          <p:cNvPr id="21" name="Text 19"/>
          <p:cNvSpPr/>
          <p:nvPr/>
        </p:nvSpPr>
        <p:spPr>
          <a:xfrm>
            <a:off x="640080" y="3931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Service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640080" y="434340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:8082  </a:t>
            </a:r>
            <a:pPr indent="0" marL="0">
              <a:buNone/>
            </a:pPr>
            <a:r>
              <a:rPr lang="en-US" sz="1100" i="1" dirty="0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tessera_matches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" y="4617720"/>
            <a:ext cx="2286000" cy="228600"/>
          </a:xfrm>
          <a:prstGeom prst="roundRect">
            <a:avLst>
              <a:gd name="adj" fmla="val 20000"/>
            </a:avLst>
          </a:prstGeom>
          <a:solidFill>
            <a:srgbClr val="3A7D44"/>
          </a:solidFill>
          <a:ln w="12700">
            <a:solidFill>
              <a:srgbClr val="3A7D44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4617720"/>
            <a:ext cx="2286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Atividade desportiva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3657600" y="4023360"/>
            <a:ext cx="79552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Clubes, equipas, jogadores, jogos, fichas técnicas e ocorrências (golos, cartões, substituições).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365760" y="4983480"/>
            <a:ext cx="1143000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F5F2EA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4983480"/>
            <a:ext cx="137160" cy="1051560"/>
          </a:xfrm>
          <a:prstGeom prst="rect">
            <a:avLst/>
          </a:prstGeom>
          <a:solidFill>
            <a:srgbClr val="3A7D44"/>
          </a:solidFill>
          <a:ln/>
        </p:spPr>
      </p:sp>
      <p:sp>
        <p:nvSpPr>
          <p:cNvPr id="28" name="Text 26"/>
          <p:cNvSpPr/>
          <p:nvPr/>
        </p:nvSpPr>
        <p:spPr>
          <a:xfrm>
            <a:off x="640080" y="507492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Statistics Service</a:t>
            </a:r>
            <a:endParaRPr lang="en-US" sz="1800" dirty="0"/>
          </a:p>
        </p:txBody>
      </p:sp>
      <p:sp>
        <p:nvSpPr>
          <p:cNvPr id="29" name="Text 27"/>
          <p:cNvSpPr/>
          <p:nvPr/>
        </p:nvSpPr>
        <p:spPr>
          <a:xfrm>
            <a:off x="640080" y="548640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:8083  </a:t>
            </a:r>
            <a:pPr indent="0" marL="0">
              <a:buNone/>
            </a:pPr>
            <a:r>
              <a:rPr lang="en-US" sz="1100" i="1" dirty="0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tessera_statistics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640080" y="5760720"/>
            <a:ext cx="2286000" cy="228600"/>
          </a:xfrm>
          <a:prstGeom prst="roundRect">
            <a:avLst>
              <a:gd name="adj" fmla="val 20000"/>
            </a:avLst>
          </a:prstGeom>
          <a:solidFill>
            <a:srgbClr val="3A7D44"/>
          </a:solidFill>
          <a:ln w="12700">
            <a:solidFill>
              <a:srgbClr val="3A7D44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40080" y="5760720"/>
            <a:ext cx="2286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Análise e relatórios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3657600" y="5166360"/>
            <a:ext cx="795528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Serviço de leitura. Relatórios de bilheteira, estatísticas de jogos e jogadores, histórico.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365760" y="6126480"/>
            <a:ext cx="11430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Decisão: </a:t>
            </a:r>
            <a:pPr algn="ctr" indent="0" marL="0">
              <a:buNone/>
            </a:pPr>
            <a:r>
              <a:rPr lang="en-US" sz="1100" i="1" dirty="0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Clubes, equipas e jogadores vivem dentro do match-service (em vez de serviço separado) — são consumidos quase exclusivamente pela ficha técnica.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365760" y="644652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Tessera | Projeto e Seminário | Grupo 31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1521440" y="644652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65760"/>
            <a:ext cx="137160" cy="822960"/>
          </a:xfrm>
          <a:prstGeom prst="rect">
            <a:avLst/>
          </a:prstGeom>
          <a:solidFill>
            <a:srgbClr val="D4AF37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320040"/>
            <a:ext cx="11430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Stack tecnológico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11430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Tecnologias selecionadas para cada componente do sistema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1554480"/>
            <a:ext cx="548640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F5F2E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554480"/>
            <a:ext cx="1554480" cy="45720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1554480"/>
            <a:ext cx="1554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2240280" y="155448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Spring Boot + Kotlin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212080" y="1554480"/>
            <a:ext cx="777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D4AF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3.4.4 / 1.9.25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1554480"/>
            <a:ext cx="548640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F5F2E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6400800" y="1554480"/>
            <a:ext cx="1554480" cy="45720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12" name="Text 10"/>
          <p:cNvSpPr/>
          <p:nvPr/>
        </p:nvSpPr>
        <p:spPr>
          <a:xfrm>
            <a:off x="6400800" y="1554480"/>
            <a:ext cx="1554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 WEB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8092440" y="155448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React + TypeScript + Vite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11064240" y="1554480"/>
            <a:ext cx="777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D4AF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48640" y="2057400"/>
            <a:ext cx="548640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F5F2E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548640" y="2057400"/>
            <a:ext cx="1554480" cy="45720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17" name="Text 15"/>
          <p:cNvSpPr/>
          <p:nvPr/>
        </p:nvSpPr>
        <p:spPr>
          <a:xfrm>
            <a:off x="548640" y="2057400"/>
            <a:ext cx="1554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MOBILE</a:t>
            </a:r>
            <a:endParaRPr lang="en-US" sz="1000" dirty="0"/>
          </a:p>
        </p:txBody>
      </p:sp>
      <p:sp>
        <p:nvSpPr>
          <p:cNvPr id="18" name="Text 16"/>
          <p:cNvSpPr/>
          <p:nvPr/>
        </p:nvSpPr>
        <p:spPr>
          <a:xfrm>
            <a:off x="2240280" y="205740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Android (Kotlin + Compose)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5212080" y="2057400"/>
            <a:ext cx="777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D4AF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6400800" y="2057400"/>
            <a:ext cx="548640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F5F2EA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6400800" y="2057400"/>
            <a:ext cx="1554480" cy="45720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22" name="Text 20"/>
          <p:cNvSpPr/>
          <p:nvPr/>
        </p:nvSpPr>
        <p:spPr>
          <a:xfrm>
            <a:off x="6400800" y="2057400"/>
            <a:ext cx="1554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DE DADOS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8092440" y="205740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PostgreSQL (Alpine)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11064240" y="2057400"/>
            <a:ext cx="777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D4AF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548640" y="2560320"/>
            <a:ext cx="548640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F5F2EA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48640" y="2560320"/>
            <a:ext cx="1554480" cy="45720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27" name="Text 25"/>
          <p:cNvSpPr/>
          <p:nvPr/>
        </p:nvSpPr>
        <p:spPr>
          <a:xfrm>
            <a:off x="548640" y="2560320"/>
            <a:ext cx="1554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MIGRAÇÕES BD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2240280" y="256032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Flyway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5212080" y="2560320"/>
            <a:ext cx="777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D4AF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6400800" y="2560320"/>
            <a:ext cx="548640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F5F2EA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6400800" y="2560320"/>
            <a:ext cx="1554480" cy="45720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32" name="Text 30"/>
          <p:cNvSpPr/>
          <p:nvPr/>
        </p:nvSpPr>
        <p:spPr>
          <a:xfrm>
            <a:off x="6400800" y="2560320"/>
            <a:ext cx="1554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AUTENTICAÇÃO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8092440" y="256032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Keycloak (OIDC + OAuth2)</a:t>
            </a:r>
            <a:endParaRPr lang="en-US" sz="1200" dirty="0"/>
          </a:p>
        </p:txBody>
      </p:sp>
      <p:sp>
        <p:nvSpPr>
          <p:cNvPr id="34" name="Text 32"/>
          <p:cNvSpPr/>
          <p:nvPr/>
        </p:nvSpPr>
        <p:spPr>
          <a:xfrm>
            <a:off x="11064240" y="2560320"/>
            <a:ext cx="777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D4AF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26.0</a:t>
            </a:r>
            <a:endParaRPr lang="en-US" sz="1100" dirty="0"/>
          </a:p>
        </p:txBody>
      </p:sp>
      <p:sp>
        <p:nvSpPr>
          <p:cNvPr id="35" name="Shape 33"/>
          <p:cNvSpPr/>
          <p:nvPr/>
        </p:nvSpPr>
        <p:spPr>
          <a:xfrm>
            <a:off x="548640" y="3063240"/>
            <a:ext cx="548640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F5F2EA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48640" y="3063240"/>
            <a:ext cx="1554480" cy="45720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37" name="Text 35"/>
          <p:cNvSpPr/>
          <p:nvPr/>
        </p:nvSpPr>
        <p:spPr>
          <a:xfrm>
            <a:off x="548640" y="3063240"/>
            <a:ext cx="1554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REVERSE PROXY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2240280" y="306324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NGINX (Alpine)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5212080" y="3063240"/>
            <a:ext cx="777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D4AF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100" dirty="0"/>
          </a:p>
        </p:txBody>
      </p:sp>
      <p:sp>
        <p:nvSpPr>
          <p:cNvPr id="40" name="Shape 38"/>
          <p:cNvSpPr/>
          <p:nvPr/>
        </p:nvSpPr>
        <p:spPr>
          <a:xfrm>
            <a:off x="6400800" y="3063240"/>
            <a:ext cx="548640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F5F2EA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6400800" y="3063240"/>
            <a:ext cx="1554480" cy="45720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42" name="Text 40"/>
          <p:cNvSpPr/>
          <p:nvPr/>
        </p:nvSpPr>
        <p:spPr>
          <a:xfrm>
            <a:off x="6400800" y="3063240"/>
            <a:ext cx="1554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CONTAINERS</a:t>
            </a:r>
            <a:endParaRPr lang="en-US" sz="1000" dirty="0"/>
          </a:p>
        </p:txBody>
      </p:sp>
      <p:sp>
        <p:nvSpPr>
          <p:cNvPr id="43" name="Text 41"/>
          <p:cNvSpPr/>
          <p:nvPr/>
        </p:nvSpPr>
        <p:spPr>
          <a:xfrm>
            <a:off x="8092440" y="306324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+ Docker Compose</a:t>
            </a:r>
            <a:endParaRPr lang="en-US" sz="1200" dirty="0"/>
          </a:p>
        </p:txBody>
      </p:sp>
      <p:sp>
        <p:nvSpPr>
          <p:cNvPr id="44" name="Text 42"/>
          <p:cNvSpPr/>
          <p:nvPr/>
        </p:nvSpPr>
        <p:spPr>
          <a:xfrm>
            <a:off x="11064240" y="3063240"/>
            <a:ext cx="777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D4AF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100" dirty="0"/>
          </a:p>
        </p:txBody>
      </p:sp>
      <p:sp>
        <p:nvSpPr>
          <p:cNvPr id="45" name="Shape 43"/>
          <p:cNvSpPr/>
          <p:nvPr/>
        </p:nvSpPr>
        <p:spPr>
          <a:xfrm>
            <a:off x="548640" y="3566160"/>
            <a:ext cx="548640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F5F2EA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>
            <a:off x="548640" y="3566160"/>
            <a:ext cx="1554480" cy="45720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47" name="Text 45"/>
          <p:cNvSpPr/>
          <p:nvPr/>
        </p:nvSpPr>
        <p:spPr>
          <a:xfrm>
            <a:off x="548640" y="3566160"/>
            <a:ext cx="1554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TOOL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2240280" y="356616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Gradle (Kotlin DSL)</a:t>
            </a:r>
            <a:endParaRPr lang="en-US" sz="1200" dirty="0"/>
          </a:p>
        </p:txBody>
      </p:sp>
      <p:sp>
        <p:nvSpPr>
          <p:cNvPr id="49" name="Text 47"/>
          <p:cNvSpPr/>
          <p:nvPr/>
        </p:nvSpPr>
        <p:spPr>
          <a:xfrm>
            <a:off x="5212080" y="3566160"/>
            <a:ext cx="777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D4AF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8.13</a:t>
            </a:r>
            <a:endParaRPr lang="en-US" sz="1100" dirty="0"/>
          </a:p>
        </p:txBody>
      </p:sp>
      <p:sp>
        <p:nvSpPr>
          <p:cNvPr id="50" name="Shape 48"/>
          <p:cNvSpPr/>
          <p:nvPr/>
        </p:nvSpPr>
        <p:spPr>
          <a:xfrm>
            <a:off x="6400800" y="3566160"/>
            <a:ext cx="548640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F5F2EA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>
            <a:off x="6400800" y="3566160"/>
            <a:ext cx="1554480" cy="45720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52" name="Text 50"/>
          <p:cNvSpPr/>
          <p:nvPr/>
        </p:nvSpPr>
        <p:spPr>
          <a:xfrm>
            <a:off x="6400800" y="3566160"/>
            <a:ext cx="1554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JDK</a:t>
            </a:r>
            <a:endParaRPr lang="en-US" sz="1000" dirty="0"/>
          </a:p>
        </p:txBody>
      </p:sp>
      <p:sp>
        <p:nvSpPr>
          <p:cNvPr id="53" name="Text 51"/>
          <p:cNvSpPr/>
          <p:nvPr/>
        </p:nvSpPr>
        <p:spPr>
          <a:xfrm>
            <a:off x="8092440" y="356616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Eclipse Temurin</a:t>
            </a:r>
            <a:endParaRPr lang="en-US" sz="1200" dirty="0"/>
          </a:p>
        </p:txBody>
      </p:sp>
      <p:sp>
        <p:nvSpPr>
          <p:cNvPr id="54" name="Text 52"/>
          <p:cNvSpPr/>
          <p:nvPr/>
        </p:nvSpPr>
        <p:spPr>
          <a:xfrm>
            <a:off x="11064240" y="3566160"/>
            <a:ext cx="777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D4AF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1100" dirty="0"/>
          </a:p>
        </p:txBody>
      </p:sp>
      <p:sp>
        <p:nvSpPr>
          <p:cNvPr id="55" name="Shape 53"/>
          <p:cNvSpPr/>
          <p:nvPr/>
        </p:nvSpPr>
        <p:spPr>
          <a:xfrm>
            <a:off x="548640" y="4069080"/>
            <a:ext cx="548640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F5F2EA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>
            <a:off x="548640" y="4069080"/>
            <a:ext cx="1554480" cy="45720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57" name="Text 55"/>
          <p:cNvSpPr/>
          <p:nvPr/>
        </p:nvSpPr>
        <p:spPr>
          <a:xfrm>
            <a:off x="548640" y="4069080"/>
            <a:ext cx="1554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SPEC</a:t>
            </a:r>
            <a:endParaRPr lang="en-US" sz="1000" dirty="0"/>
          </a:p>
        </p:txBody>
      </p:sp>
      <p:sp>
        <p:nvSpPr>
          <p:cNvPr id="58" name="Text 56"/>
          <p:cNvSpPr/>
          <p:nvPr/>
        </p:nvSpPr>
        <p:spPr>
          <a:xfrm>
            <a:off x="2240280" y="406908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OpenAPI 3.1 + Redocly</a:t>
            </a:r>
            <a:endParaRPr lang="en-US" sz="1200" dirty="0"/>
          </a:p>
        </p:txBody>
      </p:sp>
      <p:sp>
        <p:nvSpPr>
          <p:cNvPr id="59" name="Text 57"/>
          <p:cNvSpPr/>
          <p:nvPr/>
        </p:nvSpPr>
        <p:spPr>
          <a:xfrm>
            <a:off x="5212080" y="4069080"/>
            <a:ext cx="777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D4AF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100" dirty="0"/>
          </a:p>
        </p:txBody>
      </p:sp>
      <p:sp>
        <p:nvSpPr>
          <p:cNvPr id="60" name="Shape 58"/>
          <p:cNvSpPr/>
          <p:nvPr/>
        </p:nvSpPr>
        <p:spPr>
          <a:xfrm>
            <a:off x="6400800" y="4069080"/>
            <a:ext cx="5486400" cy="457200"/>
          </a:xfrm>
          <a:prstGeom prst="rect">
            <a:avLst/>
          </a:prstGeom>
          <a:solidFill>
            <a:srgbClr val="FFFFFF"/>
          </a:solidFill>
          <a:ln w="12700">
            <a:solidFill>
              <a:srgbClr val="F5F2EA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>
            <a:off x="6400800" y="4069080"/>
            <a:ext cx="1554480" cy="45720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62" name="Text 60"/>
          <p:cNvSpPr/>
          <p:nvPr/>
        </p:nvSpPr>
        <p:spPr>
          <a:xfrm>
            <a:off x="6400800" y="4069080"/>
            <a:ext cx="15544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spc="1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PAGAMENTOS</a:t>
            </a:r>
            <a:endParaRPr lang="en-US" sz="1000" dirty="0"/>
          </a:p>
        </p:txBody>
      </p:sp>
      <p:sp>
        <p:nvSpPr>
          <p:cNvPr id="63" name="Text 61"/>
          <p:cNvSpPr/>
          <p:nvPr/>
        </p:nvSpPr>
        <p:spPr>
          <a:xfrm>
            <a:off x="8092440" y="4069080"/>
            <a:ext cx="30175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SIBS / MB WAY</a:t>
            </a:r>
            <a:endParaRPr lang="en-US" sz="1200" dirty="0"/>
          </a:p>
        </p:txBody>
      </p:sp>
      <p:sp>
        <p:nvSpPr>
          <p:cNvPr id="64" name="Text 62"/>
          <p:cNvSpPr/>
          <p:nvPr/>
        </p:nvSpPr>
        <p:spPr>
          <a:xfrm>
            <a:off x="11064240" y="4069080"/>
            <a:ext cx="777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i="1" dirty="0">
                <a:solidFill>
                  <a:srgbClr val="D4AF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planeado</a:t>
            </a:r>
            <a:endParaRPr lang="en-US" sz="1100" dirty="0"/>
          </a:p>
        </p:txBody>
      </p:sp>
      <p:sp>
        <p:nvSpPr>
          <p:cNvPr id="65" name="Text 63"/>
          <p:cNvSpPr/>
          <p:nvPr/>
        </p:nvSpPr>
        <p:spPr>
          <a:xfrm>
            <a:off x="365760" y="644652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Tessera | Projeto e Seminário | Grupo 31</a:t>
            </a:r>
            <a:endParaRPr lang="en-US" sz="900" dirty="0"/>
          </a:p>
        </p:txBody>
      </p:sp>
      <p:sp>
        <p:nvSpPr>
          <p:cNvPr id="66" name="Text 64"/>
          <p:cNvSpPr/>
          <p:nvPr/>
        </p:nvSpPr>
        <p:spPr>
          <a:xfrm>
            <a:off x="11521440" y="644652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65760"/>
            <a:ext cx="137160" cy="822960"/>
          </a:xfrm>
          <a:prstGeom prst="rect">
            <a:avLst/>
          </a:prstGeom>
          <a:solidFill>
            <a:srgbClr val="D4AF37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320040"/>
            <a:ext cx="11430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está feito - Infraestrutura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11430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Setup completo de Docker, NGINX e Keycloak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1645920"/>
            <a:ext cx="594360" cy="594360"/>
          </a:xfrm>
          <a:prstGeom prst="ellipse">
            <a:avLst/>
          </a:prstGeom>
          <a:solidFill>
            <a:srgbClr val="3A7D44"/>
          </a:solidFill>
          <a:ln w="12700">
            <a:solidFill>
              <a:srgbClr val="3A7D44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1645920"/>
            <a:ext cx="594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OK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1280160" y="1508760"/>
            <a:ext cx="1051560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5F2E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463040" y="1600200"/>
            <a:ext cx="10149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Compose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463040" y="1920240"/>
            <a:ext cx="10149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containers orquestrados — 4 serviços backend, 3 BDs, NGINX, Keycloak. Rede interna com DNS, volumes persistentes, health checks.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57200" y="2606040"/>
            <a:ext cx="594360" cy="594360"/>
          </a:xfrm>
          <a:prstGeom prst="ellipse">
            <a:avLst/>
          </a:prstGeom>
          <a:solidFill>
            <a:srgbClr val="3A7D44"/>
          </a:solidFill>
          <a:ln w="12700">
            <a:solidFill>
              <a:srgbClr val="3A7D44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2606040"/>
            <a:ext cx="594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OK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1280160" y="2468880"/>
            <a:ext cx="1051560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5F2E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1463040" y="2560320"/>
            <a:ext cx="10149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NGINX como reverse proxy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463040" y="2880360"/>
            <a:ext cx="10149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Routing /api/* → BFF, /realms/* + /admin/* → Keycloak, /* → React SPA. Frontend embutido na imagem (multi-stage build).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57200" y="3566160"/>
            <a:ext cx="594360" cy="594360"/>
          </a:xfrm>
          <a:prstGeom prst="ellipse">
            <a:avLst/>
          </a:prstGeom>
          <a:solidFill>
            <a:srgbClr val="3A7D44"/>
          </a:solidFill>
          <a:ln w="12700">
            <a:solidFill>
              <a:srgbClr val="3A7D4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57200" y="3566160"/>
            <a:ext cx="594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OK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1280160" y="3429000"/>
            <a:ext cx="1051560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5F2EA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1463040" y="3520440"/>
            <a:ext cx="10149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Keycloak — autenticação e autorização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463040" y="3840480"/>
            <a:ext cx="10149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Realm 'tessera' com 3 roles (admin, staff, fan), 3 clients (web, android, bff) com PKCE, 3 utilizadores de teste, importação automática.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457200" y="4526280"/>
            <a:ext cx="594360" cy="594360"/>
          </a:xfrm>
          <a:prstGeom prst="ellipse">
            <a:avLst/>
          </a:prstGeom>
          <a:solidFill>
            <a:srgbClr val="3A7D44"/>
          </a:solidFill>
          <a:ln w="12700">
            <a:solidFill>
              <a:srgbClr val="3A7D44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57200" y="4526280"/>
            <a:ext cx="594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OK</a:t>
            </a:r>
            <a:endParaRPr lang="en-US" sz="1400" dirty="0"/>
          </a:p>
        </p:txBody>
      </p:sp>
      <p:sp>
        <p:nvSpPr>
          <p:cNvPr id="22" name="Shape 20"/>
          <p:cNvSpPr/>
          <p:nvPr/>
        </p:nvSpPr>
        <p:spPr>
          <a:xfrm>
            <a:off x="1280160" y="4389120"/>
            <a:ext cx="1051560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5F2E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1463040" y="4480560"/>
            <a:ext cx="10149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Scripts de automação (PowerShell)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463040" y="4800600"/>
            <a:ext cx="10149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buildAll.ps1, start.ps1, stop.ps1, reset.ps1 e scripts individuais por serviço (reset_xxx_service.ps1) para builds e gestão de containers.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457200" y="5486400"/>
            <a:ext cx="594360" cy="594360"/>
          </a:xfrm>
          <a:prstGeom prst="ellipse">
            <a:avLst/>
          </a:prstGeom>
          <a:solidFill>
            <a:srgbClr val="3A7D44"/>
          </a:solidFill>
          <a:ln w="12700">
            <a:solidFill>
              <a:srgbClr val="3A7D44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57200" y="5486400"/>
            <a:ext cx="59436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OK</a:t>
            </a:r>
            <a:endParaRPr lang="en-US" sz="1400" dirty="0"/>
          </a:p>
        </p:txBody>
      </p:sp>
      <p:sp>
        <p:nvSpPr>
          <p:cNvPr id="27" name="Shape 25"/>
          <p:cNvSpPr/>
          <p:nvPr/>
        </p:nvSpPr>
        <p:spPr>
          <a:xfrm>
            <a:off x="1280160" y="5349240"/>
            <a:ext cx="1051560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5F2EA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1463040" y="5440680"/>
            <a:ext cx="10149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Documentação</a:t>
            </a:r>
            <a:endParaRPr lang="en-US" sz="1600" dirty="0"/>
          </a:p>
        </p:txBody>
      </p:sp>
      <p:sp>
        <p:nvSpPr>
          <p:cNvPr id="29" name="Text 27"/>
          <p:cNvSpPr/>
          <p:nvPr/>
        </p:nvSpPr>
        <p:spPr>
          <a:xfrm>
            <a:off x="1463040" y="5760720"/>
            <a:ext cx="101498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documentos Markdown — architecture, docker, nginx, keycloak, scripts, getting-started — atualizados à medida que o projeto evolui.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365760" y="644652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Tessera | Projeto e Seminário | Grupo 31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11521440" y="644652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65760"/>
            <a:ext cx="137160" cy="822960"/>
          </a:xfrm>
          <a:prstGeom prst="rect">
            <a:avLst/>
          </a:prstGeom>
          <a:solidFill>
            <a:srgbClr val="D4AF37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320040"/>
            <a:ext cx="11430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está feito - Backend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11430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Migração de monólito para microsserviços e proxy BFF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365760" y="1463040"/>
            <a:ext cx="3657600" cy="4754880"/>
          </a:xfrm>
          <a:prstGeom prst="rect">
            <a:avLst/>
          </a:prstGeom>
          <a:solidFill>
            <a:srgbClr val="FFFFFF"/>
          </a:solidFill>
          <a:ln w="12700">
            <a:solidFill>
              <a:srgbClr val="F5F2E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65760" y="1463040"/>
            <a:ext cx="3657600" cy="457200"/>
          </a:xfrm>
          <a:prstGeom prst="rect">
            <a:avLst/>
          </a:prstGeom>
          <a:solidFill>
            <a:srgbClr val="5C5C5C"/>
          </a:solidFill>
          <a:ln/>
        </p:spPr>
      </p:sp>
      <p:sp>
        <p:nvSpPr>
          <p:cNvPr id="7" name="Text 5"/>
          <p:cNvSpPr/>
          <p:nvPr/>
        </p:nvSpPr>
        <p:spPr>
          <a:xfrm>
            <a:off x="365760" y="146304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PONTO DE PARTIDA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548640" y="2103120"/>
            <a:ext cx="3291840" cy="402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 monolítico
</a:t>
            </a:r>
            <a:pPr indent="0" marL="0">
              <a:buNone/>
            </a:pPr>
            <a:r>
              <a:rPr lang="en-US" sz="1200" i="1" dirty="0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Spring Boot + Kotlin
</a:t>
            </a:r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Apenas 2 entidades:
</a:t>
            </a:r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 Event
</a:t>
            </a:r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 Ticket
</a:t>
            </a:r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Endpoints básicos:
</a:t>
            </a:r>
            <a:pPr indent="0" marL="0">
              <a:buNone/>
            </a:pPr>
            <a:r>
              <a:rPr lang="en-US" sz="1200" dirty="0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 POST /api/tickets
</a:t>
            </a:r>
            <a:pPr indent="0" marL="0">
              <a:buNone/>
            </a:pPr>
            <a:r>
              <a:rPr lang="en-US" sz="1200" dirty="0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 POST /api/tickets/validate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4160520" y="3703320"/>
            <a:ext cx="548640" cy="365760"/>
          </a:xfrm>
          <a:prstGeom prst="rightTriangle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846320" y="1463040"/>
            <a:ext cx="6949440" cy="4754880"/>
          </a:xfrm>
          <a:prstGeom prst="rect">
            <a:avLst/>
          </a:prstGeom>
          <a:solidFill>
            <a:srgbClr val="FFFFFF"/>
          </a:solidFill>
          <a:ln w="12700">
            <a:solidFill>
              <a:srgbClr val="F5F2EA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4846320" y="1463040"/>
            <a:ext cx="6949440" cy="457200"/>
          </a:xfrm>
          <a:prstGeom prst="rect">
            <a:avLst/>
          </a:prstGeom>
          <a:solidFill>
            <a:srgbClr val="3A7D44"/>
          </a:solidFill>
          <a:ln/>
        </p:spPr>
      </p:sp>
      <p:sp>
        <p:nvSpPr>
          <p:cNvPr id="12" name="Text 10"/>
          <p:cNvSpPr/>
          <p:nvPr/>
        </p:nvSpPr>
        <p:spPr>
          <a:xfrm>
            <a:off x="4846320" y="1463040"/>
            <a:ext cx="6949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ARQUITETURA ATUAL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5029200" y="2103120"/>
            <a:ext cx="6583680" cy="640080"/>
          </a:xfrm>
          <a:prstGeom prst="rect">
            <a:avLst/>
          </a:prstGeom>
          <a:solidFill>
            <a:srgbClr val="F5F2EA"/>
          </a:solidFill>
          <a:ln w="12700">
            <a:solidFill>
              <a:srgbClr val="F5F2E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5029200" y="2103120"/>
            <a:ext cx="109728" cy="640080"/>
          </a:xfrm>
          <a:prstGeom prst="rect">
            <a:avLst/>
          </a:prstGeom>
          <a:solidFill>
            <a:srgbClr val="C73E1D"/>
          </a:solidFill>
          <a:ln/>
        </p:spPr>
      </p:sp>
      <p:sp>
        <p:nvSpPr>
          <p:cNvPr id="15" name="Text 13"/>
          <p:cNvSpPr/>
          <p:nvPr/>
        </p:nvSpPr>
        <p:spPr>
          <a:xfrm>
            <a:off x="5212080" y="214884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bff-service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5212080" y="242316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Proxy + agregação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0515600" y="228600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D4AF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:8080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5029200" y="2880360"/>
            <a:ext cx="6583680" cy="640080"/>
          </a:xfrm>
          <a:prstGeom prst="rect">
            <a:avLst/>
          </a:prstGeom>
          <a:solidFill>
            <a:srgbClr val="F5F2EA"/>
          </a:solidFill>
          <a:ln w="12700">
            <a:solidFill>
              <a:srgbClr val="F5F2EA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5029200" y="2880360"/>
            <a:ext cx="109728" cy="640080"/>
          </a:xfrm>
          <a:prstGeom prst="rect">
            <a:avLst/>
          </a:prstGeom>
          <a:solidFill>
            <a:srgbClr val="3A7D44"/>
          </a:solidFill>
          <a:ln/>
        </p:spPr>
      </p:sp>
      <p:sp>
        <p:nvSpPr>
          <p:cNvPr id="20" name="Text 18"/>
          <p:cNvSpPr/>
          <p:nvPr/>
        </p:nvSpPr>
        <p:spPr>
          <a:xfrm>
            <a:off x="5212080" y="292608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ticket-service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212080" y="320040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Bilheteira (event, ticket)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0515600" y="306324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D4AF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:8081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5029200" y="3657600"/>
            <a:ext cx="6583680" cy="640080"/>
          </a:xfrm>
          <a:prstGeom prst="rect">
            <a:avLst/>
          </a:prstGeom>
          <a:solidFill>
            <a:srgbClr val="F5F2EA"/>
          </a:solidFill>
          <a:ln w="12700">
            <a:solidFill>
              <a:srgbClr val="F5F2EA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029200" y="3657600"/>
            <a:ext cx="109728" cy="640080"/>
          </a:xfrm>
          <a:prstGeom prst="rect">
            <a:avLst/>
          </a:prstGeom>
          <a:solidFill>
            <a:srgbClr val="D4AF37"/>
          </a:solidFill>
          <a:ln/>
        </p:spPr>
      </p:sp>
      <p:sp>
        <p:nvSpPr>
          <p:cNvPr id="25" name="Text 23"/>
          <p:cNvSpPr/>
          <p:nvPr/>
        </p:nvSpPr>
        <p:spPr>
          <a:xfrm>
            <a:off x="5212080" y="370332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match-service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5212080" y="397764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Esqueleto (a desenvolver)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10515600" y="384048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D4AF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:8082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5029200" y="4434840"/>
            <a:ext cx="6583680" cy="640080"/>
          </a:xfrm>
          <a:prstGeom prst="rect">
            <a:avLst/>
          </a:prstGeom>
          <a:solidFill>
            <a:srgbClr val="F5F2EA"/>
          </a:solidFill>
          <a:ln w="12700">
            <a:solidFill>
              <a:srgbClr val="F5F2EA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029200" y="4434840"/>
            <a:ext cx="109728" cy="640080"/>
          </a:xfrm>
          <a:prstGeom prst="rect">
            <a:avLst/>
          </a:prstGeom>
          <a:solidFill>
            <a:srgbClr val="D4AF37"/>
          </a:solidFill>
          <a:ln/>
        </p:spPr>
      </p:sp>
      <p:sp>
        <p:nvSpPr>
          <p:cNvPr id="30" name="Text 28"/>
          <p:cNvSpPr/>
          <p:nvPr/>
        </p:nvSpPr>
        <p:spPr>
          <a:xfrm>
            <a:off x="5212080" y="4480560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statistics-service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5212080" y="47548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Esqueleto (a desenvolver)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10515600" y="46177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D4AF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:8083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4846320" y="5486400"/>
            <a:ext cx="69494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serviço: </a:t>
            </a:r>
            <a:pPr algn="ctr" indent="0" marL="0">
              <a:buNone/>
            </a:pPr>
            <a:r>
              <a:rPr lang="en-US" sz="1100" dirty="0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BD própria + Flyway migrations + Dockerfile + build script + reset script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365760" y="644652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Tessera | Projeto e Seminário | Grupo 31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11521440" y="644652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65760"/>
            <a:ext cx="137160" cy="822960"/>
          </a:xfrm>
          <a:prstGeom prst="rect">
            <a:avLst/>
          </a:prstGeom>
          <a:solidFill>
            <a:srgbClr val="D4AF37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320040"/>
            <a:ext cx="11430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está feito - Especificação da API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11430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Contrato OpenAPI 3.1 como fonte de verdade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457200" y="155448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Abordagem contract-first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457200" y="1920240"/>
            <a:ext cx="5486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especificação OpenAPI é o contrato vinculativo entre os 3 consumidores (web, android, BFF) e a backend. A implementação deriva da spec.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" y="2743200"/>
            <a:ext cx="457200" cy="457200"/>
          </a:xfrm>
          <a:prstGeom prst="ellipse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27432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1097280" y="278892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Definir endpoints e schemas em YAML (docs/api/)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57200" y="3291840"/>
            <a:ext cx="457200" cy="457200"/>
          </a:xfrm>
          <a:prstGeom prst="ellipse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29184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097280" y="333756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Validar com Spectral (linter de OpenAPI)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3840480"/>
            <a:ext cx="457200" cy="457200"/>
          </a:xfrm>
          <a:prstGeom prst="ellipse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7200" y="384048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097280" y="388620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Gerar documentação HTML interativa (Redocly)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457200" y="4389120"/>
            <a:ext cx="457200" cy="457200"/>
          </a:xfrm>
          <a:prstGeom prst="ellipse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438912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18" name="Text 16"/>
          <p:cNvSpPr/>
          <p:nvPr/>
        </p:nvSpPr>
        <p:spPr>
          <a:xfrm>
            <a:off x="1097280" y="443484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Servir Swagger UI no BFF (/api/docs)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457200" y="4937760"/>
            <a:ext cx="457200" cy="457200"/>
          </a:xfrm>
          <a:prstGeom prst="ellipse">
            <a:avLst/>
          </a:prstGeom>
          <a:solidFill>
            <a:srgbClr val="D4AF37"/>
          </a:solidFill>
          <a:ln w="12700">
            <a:solidFill>
              <a:srgbClr val="D4AF3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57200" y="493776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21" name="Text 19"/>
          <p:cNvSpPr/>
          <p:nvPr/>
        </p:nvSpPr>
        <p:spPr>
          <a:xfrm>
            <a:off x="1097280" y="4983480"/>
            <a:ext cx="5029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Gerar clientes tipados (TypeScript + Kotlin)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6400800" y="1554480"/>
            <a:ext cx="5394960" cy="4572000"/>
          </a:xfrm>
          <a:prstGeom prst="rect">
            <a:avLst/>
          </a:prstGeom>
          <a:solidFill>
            <a:srgbClr val="FFFFFF"/>
          </a:solidFill>
          <a:ln w="12700">
            <a:solidFill>
              <a:srgbClr val="F5F2E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6400800" y="1554480"/>
            <a:ext cx="5394960" cy="45720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24" name="Text 22"/>
          <p:cNvSpPr/>
          <p:nvPr/>
        </p:nvSpPr>
        <p:spPr>
          <a:xfrm>
            <a:off x="6400800" y="1554480"/>
            <a:ext cx="5394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RECURSOS DA API</a:t>
            </a:r>
            <a:endParaRPr lang="en-US" sz="1200" dirty="0"/>
          </a:p>
        </p:txBody>
      </p:sp>
      <p:sp>
        <p:nvSpPr>
          <p:cNvPr id="25" name="Text 23"/>
          <p:cNvSpPr/>
          <p:nvPr/>
        </p:nvSpPr>
        <p:spPr>
          <a:xfrm>
            <a:off x="6675120" y="2194560"/>
            <a:ext cx="4937760" cy="3840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00"/>
              </a:lnSpc>
              <a:buNone/>
            </a:pPr>
            <a:r>
              <a:rPr lang="en-US" sz="13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Match-service
</a:t>
            </a:r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 /clubs - clubes
</a:t>
            </a:r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 /teams - equipas
</a:t>
            </a:r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 /players - jogadores
</a:t>
            </a:r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 /venues - estádios
</a:t>
            </a:r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 /matches - jogos
</a:t>
            </a:r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 /matches/{id}/sheet - ficha técnica
</a:t>
            </a:r>
            <a:pPr indent="0" marL="0">
              <a:lnSpc>
                <a:spcPts val="1600"/>
              </a:lnSpc>
              <a:buNone/>
            </a:pPr>
            <a:r>
              <a:rPr lang="en-US" sz="13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Ticket-service
</a:t>
            </a:r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 /tickets - bilhetes
</a:t>
            </a:r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 /events - eventos de bilheteira
</a:t>
            </a:r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 /payments - pagamentos
</a:t>
            </a:r>
            <a:pPr indent="0" marL="0">
              <a:lnSpc>
                <a:spcPts val="1600"/>
              </a:lnSpc>
              <a:buNone/>
            </a:pPr>
            <a:r>
              <a:rPr lang="en-US" sz="13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Statistics-service
</a:t>
            </a:r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 /stats/matches/{id}
</a:t>
            </a:r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 /stats/players/{id}
</a:t>
            </a:r>
            <a:pPr indent="0" marL="0">
              <a:lnSpc>
                <a:spcPts val="16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 /stats/teams/{id}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365760" y="6126480"/>
            <a:ext cx="11430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Convenções: </a:t>
            </a:r>
            <a:pPr algn="ctr" indent="0" marL="0">
              <a:buNone/>
            </a:pPr>
            <a:r>
              <a:rPr lang="en-US" sz="1100" i="1" dirty="0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/api/v1 - camelCase - ISO 8601 - Problem Details (RFC 7807) - JWT Bearer (Keycloak)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365760" y="644652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Tessera | Projeto e Seminário | Grupo 31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11521440" y="644652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65760"/>
            <a:ext cx="137160" cy="822960"/>
          </a:xfrm>
          <a:prstGeom prst="rect">
            <a:avLst/>
          </a:prstGeom>
          <a:solidFill>
            <a:srgbClr val="D4AF37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320040"/>
            <a:ext cx="11430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 de dados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11430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Entidades principais por contexto (BD por serviço)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289408" y="1417320"/>
            <a:ext cx="3749040" cy="4846320"/>
          </a:xfrm>
          <a:prstGeom prst="rect">
            <a:avLst/>
          </a:prstGeom>
          <a:solidFill>
            <a:srgbClr val="FFFFFF"/>
          </a:solidFill>
          <a:ln w="12700">
            <a:solidFill>
              <a:srgbClr val="F5F2E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89408" y="1417320"/>
            <a:ext cx="3749040" cy="45720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7" name="Text 5"/>
          <p:cNvSpPr/>
          <p:nvPr/>
        </p:nvSpPr>
        <p:spPr>
          <a:xfrm>
            <a:off x="289408" y="1417320"/>
            <a:ext cx="3749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MATCH-SERVICE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72288" y="2011680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Club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000" i="1" dirty="0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id, name, foundedYear, crestUrl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72288" y="2606040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000" i="1" dirty="0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id, clubId, category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472288" y="3200400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Player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000" i="1" dirty="0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id, teamId, name, position, shirtNumber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72288" y="3794760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Venue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000" i="1" dirty="0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id, name, capacity, address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72288" y="4389120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000" i="1" dirty="0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id, homeTeamId, awayTeamId, kickoffAt, status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72288" y="4983480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MatchSheet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000" i="1" dirty="0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id, matchId, locked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472288" y="5577840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Occurrence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000" i="1" dirty="0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id, minute, type (GOAL/CARD/SUB)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221328" y="1417320"/>
            <a:ext cx="3749040" cy="4846320"/>
          </a:xfrm>
          <a:prstGeom prst="rect">
            <a:avLst/>
          </a:prstGeom>
          <a:solidFill>
            <a:srgbClr val="FFFFFF"/>
          </a:solidFill>
          <a:ln w="12700">
            <a:solidFill>
              <a:srgbClr val="F5F2EA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221328" y="1417320"/>
            <a:ext cx="3749040" cy="457200"/>
          </a:xfrm>
          <a:prstGeom prst="rect">
            <a:avLst/>
          </a:prstGeom>
          <a:solidFill>
            <a:srgbClr val="3A7D44"/>
          </a:solidFill>
          <a:ln/>
        </p:spPr>
      </p:sp>
      <p:sp>
        <p:nvSpPr>
          <p:cNvPr id="17" name="Text 15"/>
          <p:cNvSpPr/>
          <p:nvPr/>
        </p:nvSpPr>
        <p:spPr>
          <a:xfrm>
            <a:off x="4221328" y="1417320"/>
            <a:ext cx="3749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TICKET-SERVICE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4404208" y="2011680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000" i="1" dirty="0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id, matchId, name, priceNormal, priceSupporter, status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4404208" y="2606040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Ticket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000" i="1" dirty="0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id, eventId, code (UUID), price, status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404208" y="3337560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Lifecycle: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404208" y="3703320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PENDING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000" i="1" dirty="0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(criado, aguarda pagamento)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4404208" y="4297680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PAID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000" i="1" dirty="0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(pagamento confirmado)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4404208" y="4892040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VALIDATED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000" i="1" dirty="0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(usado à entrada)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8153248" y="1417320"/>
            <a:ext cx="3749040" cy="4846320"/>
          </a:xfrm>
          <a:prstGeom prst="rect">
            <a:avLst/>
          </a:prstGeom>
          <a:solidFill>
            <a:srgbClr val="FFFFFF"/>
          </a:solidFill>
          <a:ln w="12700">
            <a:solidFill>
              <a:srgbClr val="F5F2EA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153248" y="1417320"/>
            <a:ext cx="3749040" cy="457200"/>
          </a:xfrm>
          <a:prstGeom prst="rect">
            <a:avLst/>
          </a:prstGeom>
          <a:solidFill>
            <a:srgbClr val="C73E1D"/>
          </a:solidFill>
          <a:ln/>
        </p:spPr>
      </p:sp>
      <p:sp>
        <p:nvSpPr>
          <p:cNvPr id="26" name="Text 24"/>
          <p:cNvSpPr/>
          <p:nvPr/>
        </p:nvSpPr>
        <p:spPr>
          <a:xfrm>
            <a:off x="8153248" y="1417320"/>
            <a:ext cx="3749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STATISTICS-SERVICE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8336128" y="2011680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MatchStats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000" i="1" dirty="0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matchId, scorers, cards, ...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8336128" y="2606040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PlayerStats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000" i="1" dirty="0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playerId, season, goals, cards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8336128" y="3200400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TeamStats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000" i="1" dirty="0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teamId, season, won, drawn, lost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8336128" y="3794760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EventSales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000" i="1" dirty="0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eventId, sold, validated, revenue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8336128" y="4526280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Tabelas read-only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000" i="1" dirty="0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alimentadas via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8336128" y="5120640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RabbitMQ events</a:t>
            </a:r>
            <a:pPr indent="0" marL="0">
              <a:buNone/>
            </a:pPr>
            <a:endParaRPr lang="en-US" sz="1200" dirty="0"/>
          </a:p>
          <a:p>
            <a:pPr indent="0" marL="0">
              <a:buNone/>
            </a:pPr>
            <a:r>
              <a:rPr lang="en-US" sz="1000" i="1" dirty="0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(planeado)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365760" y="644652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Tessera | Projeto e Seminário | Grupo 31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11521440" y="644652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65760"/>
            <a:ext cx="137160" cy="822960"/>
          </a:xfrm>
          <a:prstGeom prst="rect">
            <a:avLst/>
          </a:prstGeom>
          <a:solidFill>
            <a:srgbClr val="D4AF37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320040"/>
            <a:ext cx="11430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Demonstração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11430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Sistema funcional end-to-end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365760" y="1417320"/>
            <a:ext cx="11430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Fluxo completo a correr localmente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914400" y="1828800"/>
            <a:ext cx="10332720" cy="2788920"/>
          </a:xfrm>
          <a:prstGeom prst="roundRect">
            <a:avLst>
              <a:gd name="adj" fmla="val 3279"/>
            </a:avLst>
          </a:prstGeom>
          <a:solidFill>
            <a:srgbClr val="1A1A1A"/>
          </a:solidFill>
          <a:ln w="25400">
            <a:solidFill>
              <a:srgbClr val="0F244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914400" y="1828800"/>
            <a:ext cx="10332720" cy="320040"/>
          </a:xfrm>
          <a:prstGeom prst="rect">
            <a:avLst/>
          </a:prstGeom>
          <a:solidFill>
            <a:srgbClr val="0F2440"/>
          </a:solidFill>
          <a:ln/>
        </p:spPr>
      </p:sp>
      <p:sp>
        <p:nvSpPr>
          <p:cNvPr id="8" name="Text 6"/>
          <p:cNvSpPr/>
          <p:nvPr/>
        </p:nvSpPr>
        <p:spPr>
          <a:xfrm>
            <a:off x="1097280" y="1828800"/>
            <a:ext cx="7315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&gt; .\scripts\run\start.ps1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097280" y="2194560"/>
            <a:ext cx="10058400" cy="2377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97FB9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[OK] Building all services... </a:t>
            </a:r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(buildAll.ps1)
</a:t>
            </a:r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bff-service          : SUCCESS
</a:t>
            </a:r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ticket-service       : SUCCESS
</a:t>
            </a:r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match-service        : SUCCESS
</a:t>
            </a:r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statistics-service   : SUCCESS
</a:t>
            </a:r>
            <a:pPr indent="0" marL="0">
              <a:buNone/>
            </a:pPr>
            <a:r>
              <a:rPr lang="en-US" sz="1000" dirty="0">
                <a:solidFill>
                  <a:srgbClr val="97FB9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[OK] Starting Docker containers...
</a:t>
            </a:r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9 containers running on tessera-net
</a:t>
            </a:r>
            <a:pPr indent="0" marL="0">
              <a:buNone/>
            </a:pPr>
            <a:r>
              <a:rPr lang="en-US" sz="1100" b="1" dirty="0">
                <a:solidFill>
                  <a:srgbClr val="D4AF37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All services are up!
</a:t>
            </a:r>
            <a:pPr indent="0" marL="0">
              <a:buNone/>
            </a:pPr>
            <a:r>
              <a:rPr lang="en-US" sz="1000" dirty="0">
                <a:solidFill>
                  <a:srgbClr val="97FB9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App:       http://localhost:8000
</a:t>
            </a:r>
            <a:pPr indent="0" marL="0">
              <a:buNone/>
            </a:pPr>
            <a:r>
              <a:rPr lang="en-US" sz="1000" dirty="0">
                <a:solidFill>
                  <a:srgbClr val="97FB9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BFF API:   http://localhost:8000/api
</a:t>
            </a:r>
            <a:pPr indent="0" marL="0">
              <a:buNone/>
            </a:pPr>
            <a:r>
              <a:rPr lang="en-US" sz="1000" dirty="0">
                <a:solidFill>
                  <a:srgbClr val="97FB9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Keycloak:  http://localhost:8180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365760" y="4800600"/>
            <a:ext cx="11430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Demonstração em vivo: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548640" y="5166360"/>
            <a:ext cx="11247120" cy="12344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 Frontend React acessível em http://localhost:8000
</a:t>
            </a:r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 Login via Keycloak com 3 utilizadores diferentes (admin, staff, adepto) — JWT contém roles
</a:t>
            </a:r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 Compra de bilhete: SPA → NGINX → BFF → ticket-service → PostgreSQL
</a:t>
            </a:r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 Validação de bilhete por UUID — alteração de estado PAID → VALIDATED
</a:t>
            </a:r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 Consola de admin do Keycloak para gestão de utilizadores e roles
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365760" y="644652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Tessera | Projeto e Seminário | Grupo 31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11521440" y="644652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65760"/>
            <a:ext cx="137160" cy="822960"/>
          </a:xfrm>
          <a:prstGeom prst="rect">
            <a:avLst/>
          </a:prstGeom>
          <a:solidFill>
            <a:srgbClr val="D4AF37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320040"/>
            <a:ext cx="11430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Desafios técnicos enfrentados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11430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Problemas reais e como foram resolvidos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365760" y="1463040"/>
            <a:ext cx="1143000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5F2E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365760" y="1463040"/>
            <a:ext cx="137160" cy="914400"/>
          </a:xfrm>
          <a:prstGeom prst="rect">
            <a:avLst/>
          </a:prstGeom>
          <a:solidFill>
            <a:srgbClr val="C73E1D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150876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b="1" dirty="0">
                <a:solidFill>
                  <a:srgbClr val="C73E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Problema: </a:t>
            </a:r>
            <a:pPr indent="0" marL="0">
              <a:lnSpc>
                <a:spcPts val="14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do gradlew falhava em Alpine Linux
</a:t>
            </a:r>
            <a:pPr indent="0" marL="0">
              <a:lnSpc>
                <a:spcPts val="1400"/>
              </a:lnSpc>
              <a:buNone/>
            </a:pPr>
            <a:r>
              <a:rPr lang="en-US" sz="10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Causa: </a:t>
            </a:r>
            <a:pPr indent="0" marL="0">
              <a:lnSpc>
                <a:spcPts val="1400"/>
              </a:lnSpc>
              <a:buNone/>
            </a:pPr>
            <a:r>
              <a:rPr lang="en-US" sz="1000" i="1" dirty="0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BusyBox sh não interpreta corretamente os JVM args do gradlew (DEFAULT_JVM_OPTS com quotes aninhadas)
</a:t>
            </a:r>
            <a:pPr indent="0" marL="0">
              <a:lnSpc>
                <a:spcPts val="1400"/>
              </a:lnSpc>
              <a:buNone/>
            </a:pPr>
            <a:r>
              <a:rPr lang="en-US" sz="1000" b="1" dirty="0">
                <a:solidFill>
                  <a:srgbClr val="3A7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Solução: </a:t>
            </a:r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Adotámos abordagem runtime-only: build do JAR na máquina local, Dockerfile apenas COPY do JAR pré-compilado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365760" y="2423160"/>
            <a:ext cx="1143000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5F2EA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365760" y="2423160"/>
            <a:ext cx="137160" cy="914400"/>
          </a:xfrm>
          <a:prstGeom prst="rect">
            <a:avLst/>
          </a:prstGeom>
          <a:solidFill>
            <a:srgbClr val="C73E1D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246888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b="1" dirty="0">
                <a:solidFill>
                  <a:srgbClr val="C73E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Problema: </a:t>
            </a:r>
            <a:pPr indent="0" marL="0">
              <a:lnSpc>
                <a:spcPts val="14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NGINX retornava 404 em /api/ e /realms/
</a:t>
            </a:r>
            <a:pPr indent="0" marL="0">
              <a:lnSpc>
                <a:spcPts val="1400"/>
              </a:lnSpc>
              <a:buNone/>
            </a:pPr>
            <a:r>
              <a:rPr lang="en-US" sz="10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Causa: </a:t>
            </a:r>
            <a:pPr indent="0" marL="0">
              <a:lnSpc>
                <a:spcPts val="1400"/>
              </a:lnSpc>
              <a:buNone/>
            </a:pPr>
            <a:r>
              <a:rPr lang="en-US" sz="1000" i="1" dirty="0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imagem base do NGINX inclui um default.conf com server block na porta 80 que intercetava os pedidos antes da nossa configuração
</a:t>
            </a:r>
            <a:pPr indent="0" marL="0">
              <a:lnSpc>
                <a:spcPts val="1400"/>
              </a:lnSpc>
              <a:buNone/>
            </a:pPr>
            <a:r>
              <a:rPr lang="en-US" sz="1000" b="1" dirty="0">
                <a:solidFill>
                  <a:srgbClr val="3A7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Solução: </a:t>
            </a:r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Adicionámos RUN rm /etc/nginx/conf.d/default.conf no Dockerfile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365760" y="3383280"/>
            <a:ext cx="1143000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5F2EA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365760" y="3383280"/>
            <a:ext cx="137160" cy="914400"/>
          </a:xfrm>
          <a:prstGeom prst="rect">
            <a:avLst/>
          </a:prstGeom>
          <a:solidFill>
            <a:srgbClr val="C73E1D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342900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b="1" dirty="0">
                <a:solidFill>
                  <a:srgbClr val="C73E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Problema: </a:t>
            </a:r>
            <a:pPr indent="0" marL="0">
              <a:lnSpc>
                <a:spcPts val="14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Porta 80 ocupada no host (outro NGINX em WSL)
</a:t>
            </a:r>
            <a:pPr indent="0" marL="0">
              <a:lnSpc>
                <a:spcPts val="1400"/>
              </a:lnSpc>
              <a:buNone/>
            </a:pPr>
            <a:r>
              <a:rPr lang="en-US" sz="10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Causa: </a:t>
            </a:r>
            <a:pPr indent="0" marL="0">
              <a:lnSpc>
                <a:spcPts val="1400"/>
              </a:lnSpc>
              <a:buNone/>
            </a:pPr>
            <a:r>
              <a:rPr lang="en-US" sz="1000" i="1" dirty="0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Máquina de desenvolvimento já tinha um NGINX a correr na porta 80
</a:t>
            </a:r>
            <a:pPr indent="0" marL="0">
              <a:lnSpc>
                <a:spcPts val="1400"/>
              </a:lnSpc>
              <a:buNone/>
            </a:pPr>
            <a:r>
              <a:rPr lang="en-US" sz="1000" b="1" dirty="0">
                <a:solidFill>
                  <a:srgbClr val="3A7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Solução: </a:t>
            </a:r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Configurámos o nosso NGINX para a porta 8000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365760" y="4343400"/>
            <a:ext cx="1143000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5F2E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4343400"/>
            <a:ext cx="137160" cy="914400"/>
          </a:xfrm>
          <a:prstGeom prst="rect">
            <a:avLst/>
          </a:prstGeom>
          <a:solidFill>
            <a:srgbClr val="C73E1D"/>
          </a:solidFill>
          <a:ln/>
        </p:spPr>
      </p:sp>
      <p:sp>
        <p:nvSpPr>
          <p:cNvPr id="16" name="Text 14"/>
          <p:cNvSpPr/>
          <p:nvPr/>
        </p:nvSpPr>
        <p:spPr>
          <a:xfrm>
            <a:off x="640080" y="438912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b="1" dirty="0">
                <a:solidFill>
                  <a:srgbClr val="C73E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Problema: </a:t>
            </a:r>
            <a:pPr indent="0" marL="0">
              <a:lnSpc>
                <a:spcPts val="14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Keycloak 26 sem prefixo /auth/
</a:t>
            </a:r>
            <a:pPr indent="0" marL="0">
              <a:lnSpc>
                <a:spcPts val="1400"/>
              </a:lnSpc>
              <a:buNone/>
            </a:pPr>
            <a:r>
              <a:rPr lang="en-US" sz="10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Causa: </a:t>
            </a:r>
            <a:pPr indent="0" marL="0">
              <a:lnSpc>
                <a:spcPts val="1400"/>
              </a:lnSpc>
              <a:buNone/>
            </a:pPr>
            <a:r>
              <a:rPr lang="en-US" sz="1000" i="1" dirty="0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Ao contrário das versões &lt; 25, o Keycloak 26 serve diretamente em /realms/, /admin/, /resources/
</a:t>
            </a:r>
            <a:pPr indent="0" marL="0">
              <a:lnSpc>
                <a:spcPts val="1400"/>
              </a:lnSpc>
              <a:buNone/>
            </a:pPr>
            <a:r>
              <a:rPr lang="en-US" sz="1000" b="1" dirty="0">
                <a:solidFill>
                  <a:srgbClr val="3A7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Solução: </a:t>
            </a:r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Atualizámos a configuração NGINX com locations explícitos para cada caminho do Keycloak</a:t>
            </a:r>
            <a:endParaRPr lang="en-US" sz="1100" dirty="0"/>
          </a:p>
        </p:txBody>
      </p:sp>
      <p:sp>
        <p:nvSpPr>
          <p:cNvPr id="17" name="Shape 15"/>
          <p:cNvSpPr/>
          <p:nvPr/>
        </p:nvSpPr>
        <p:spPr>
          <a:xfrm>
            <a:off x="365760" y="5303520"/>
            <a:ext cx="11430000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F5F2E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65760" y="5303520"/>
            <a:ext cx="137160" cy="914400"/>
          </a:xfrm>
          <a:prstGeom prst="rect">
            <a:avLst/>
          </a:prstGeom>
          <a:solidFill>
            <a:srgbClr val="C73E1D"/>
          </a:solidFill>
          <a:ln/>
        </p:spPr>
      </p:sp>
      <p:sp>
        <p:nvSpPr>
          <p:cNvPr id="19" name="Text 17"/>
          <p:cNvSpPr/>
          <p:nvPr/>
        </p:nvSpPr>
        <p:spPr>
          <a:xfrm>
            <a:off x="640080" y="5349240"/>
            <a:ext cx="109728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400"/>
              </a:lnSpc>
              <a:buNone/>
            </a:pPr>
            <a:r>
              <a:rPr lang="en-US" sz="1100" b="1" dirty="0">
                <a:solidFill>
                  <a:srgbClr val="C73E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Problema: </a:t>
            </a:r>
            <a:pPr indent="0" marL="0">
              <a:lnSpc>
                <a:spcPts val="1400"/>
              </a:lnSpc>
              <a:buNone/>
            </a:pPr>
            <a:r>
              <a:rPr lang="en-US" sz="11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CORS no browser ao chamar a API
</a:t>
            </a:r>
            <a:pPr indent="0" marL="0">
              <a:lnSpc>
                <a:spcPts val="1400"/>
              </a:lnSpc>
              <a:buNone/>
            </a:pPr>
            <a:r>
              <a:rPr lang="en-US" sz="10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Causa: </a:t>
            </a:r>
            <a:pPr indent="0" marL="0">
              <a:lnSpc>
                <a:spcPts val="1400"/>
              </a:lnSpc>
              <a:buNone/>
            </a:pPr>
            <a:r>
              <a:rPr lang="en-US" sz="1000" i="1" dirty="0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 chamava http://localhost:8080 diretamente, gerando cross-origin request
</a:t>
            </a:r>
            <a:pPr indent="0" marL="0">
              <a:lnSpc>
                <a:spcPts val="1400"/>
              </a:lnSpc>
              <a:buNone/>
            </a:pPr>
            <a:r>
              <a:rPr lang="en-US" sz="1000" b="1" dirty="0">
                <a:solidFill>
                  <a:srgbClr val="3A7D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Solução: </a:t>
            </a:r>
            <a:pPr indent="0" marL="0">
              <a:lnSpc>
                <a:spcPts val="1400"/>
              </a:lnSpc>
              <a:buNone/>
            </a:pPr>
            <a:r>
              <a:rPr lang="en-US" sz="10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Mudámos o frontend para path relativo /api — todos os pedidos passam pelo NGINX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365760" y="644652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Tessera | Projeto e Seminário | Grupo 31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11521440" y="644652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5F2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65760"/>
            <a:ext cx="137160" cy="822960"/>
          </a:xfrm>
          <a:prstGeom prst="rect">
            <a:avLst/>
          </a:prstGeom>
          <a:solidFill>
            <a:srgbClr val="D4AF37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320040"/>
            <a:ext cx="11430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falta fazer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11430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Funcionalidades em falta e próximos passos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289408" y="1417320"/>
            <a:ext cx="3749040" cy="4754880"/>
          </a:xfrm>
          <a:prstGeom prst="rect">
            <a:avLst/>
          </a:prstGeom>
          <a:solidFill>
            <a:srgbClr val="FFFFFF"/>
          </a:solidFill>
          <a:ln w="12700">
            <a:solidFill>
              <a:srgbClr val="F5F2EA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289408" y="1417320"/>
            <a:ext cx="3749040" cy="457200"/>
          </a:xfrm>
          <a:prstGeom prst="rect">
            <a:avLst/>
          </a:prstGeom>
          <a:solidFill>
            <a:srgbClr val="1E3A5F"/>
          </a:solidFill>
          <a:ln/>
        </p:spPr>
      </p:sp>
      <p:sp>
        <p:nvSpPr>
          <p:cNvPr id="7" name="Text 5"/>
          <p:cNvSpPr/>
          <p:nvPr/>
        </p:nvSpPr>
        <p:spPr>
          <a:xfrm>
            <a:off x="289408" y="1417320"/>
            <a:ext cx="3749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BACKEND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518008" y="2057400"/>
            <a:ext cx="3291840" cy="402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 Implementar match-service (CRUD de clubes, equipas, jogadores, jogos)
</a:t>
            </a:r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 Implementar ficha técnica e ocorrências
</a:t>
            </a:r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 Implementar statistics-service
</a:t>
            </a:r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 Integração SIBS / MB WAY no ticket-service
</a:t>
            </a:r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 Eventos assíncronos com RabbitMQ
</a:t>
            </a:r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 Validação de tokens JWT no BFF
</a:t>
            </a:r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 Testes (unitários + integração)
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221328" y="1417320"/>
            <a:ext cx="3749040" cy="4754880"/>
          </a:xfrm>
          <a:prstGeom prst="rect">
            <a:avLst/>
          </a:prstGeom>
          <a:solidFill>
            <a:srgbClr val="FFFFFF"/>
          </a:solidFill>
          <a:ln w="12700">
            <a:solidFill>
              <a:srgbClr val="F5F2E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221328" y="1417320"/>
            <a:ext cx="3749040" cy="457200"/>
          </a:xfrm>
          <a:prstGeom prst="rect">
            <a:avLst/>
          </a:prstGeom>
          <a:solidFill>
            <a:srgbClr val="3A7D44"/>
          </a:solidFill>
          <a:ln/>
        </p:spPr>
      </p:sp>
      <p:sp>
        <p:nvSpPr>
          <p:cNvPr id="11" name="Text 9"/>
          <p:cNvSpPr/>
          <p:nvPr/>
        </p:nvSpPr>
        <p:spPr>
          <a:xfrm>
            <a:off x="4221328" y="1417320"/>
            <a:ext cx="3749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 + MOBILE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4449928" y="2057400"/>
            <a:ext cx="3291840" cy="402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 SPA React: ecrãs de gestão para admin
</a:t>
            </a:r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 SPA React: compra de bilhetes para adeptos
</a:t>
            </a:r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 Geração de cliente TypeScript a partir do OpenAPI
</a:t>
            </a:r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 App Android: validação de QR (staff)
</a:t>
            </a:r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 App Android: ficha técnica em tempo real
</a:t>
            </a:r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 App Android: visualização de bilhetes (adeptos)
</a:t>
            </a:r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 OCR de fichas técnicas em papel (opcional)
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8153248" y="1417320"/>
            <a:ext cx="3749040" cy="4754880"/>
          </a:xfrm>
          <a:prstGeom prst="rect">
            <a:avLst/>
          </a:prstGeom>
          <a:solidFill>
            <a:srgbClr val="FFFFFF"/>
          </a:solidFill>
          <a:ln w="12700">
            <a:solidFill>
              <a:srgbClr val="F5F2EA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8153248" y="1417320"/>
            <a:ext cx="3749040" cy="457200"/>
          </a:xfrm>
          <a:prstGeom prst="rect">
            <a:avLst/>
          </a:prstGeom>
          <a:solidFill>
            <a:srgbClr val="C73E1D"/>
          </a:solidFill>
          <a:ln/>
        </p:spPr>
      </p:sp>
      <p:sp>
        <p:nvSpPr>
          <p:cNvPr id="15" name="Text 13"/>
          <p:cNvSpPr/>
          <p:nvPr/>
        </p:nvSpPr>
        <p:spPr>
          <a:xfrm>
            <a:off x="8153248" y="1417320"/>
            <a:ext cx="3749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OPS + DELIVERY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8381848" y="2057400"/>
            <a:ext cx="3291840" cy="4023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 Configurar HTTPS (certificado SSL)
</a:t>
            </a:r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 Pipeline CI/CD
</a:t>
            </a:r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 Substituir BD H2 do Keycloak por PostgreSQL
</a:t>
            </a:r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 Logs centralizados
</a:t>
            </a:r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 Deploy em ambiente de produção
</a:t>
            </a:r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 Documentação de utilizador final
</a:t>
            </a:r>
            <a:pPr indent="0" marL="0">
              <a:lnSpc>
                <a:spcPts val="1800"/>
              </a:lnSpc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* Validacao com SU 1.º Dezembro
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365760" y="6446520"/>
            <a:ext cx="6400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Tessera | Projeto e Seminário | Grupo 31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1521440" y="6446520"/>
            <a:ext cx="365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5C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E3A5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457200" cy="6858000"/>
          </a:xfrm>
          <a:prstGeom prst="rect">
            <a:avLst/>
          </a:prstGeom>
          <a:solidFill>
            <a:srgbClr val="D4AF37"/>
          </a:solidFill>
          <a:ln/>
        </p:spPr>
      </p:sp>
      <p:sp>
        <p:nvSpPr>
          <p:cNvPr id="3" name="Text 1"/>
          <p:cNvSpPr/>
          <p:nvPr/>
        </p:nvSpPr>
        <p:spPr>
          <a:xfrm>
            <a:off x="914400" y="640080"/>
            <a:ext cx="10058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Próximos passos &amp; Planeamento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914400" y="1325880"/>
            <a:ext cx="365760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1645920"/>
            <a:ext cx="822960" cy="457200"/>
          </a:xfrm>
          <a:prstGeom prst="rect">
            <a:avLst/>
          </a:prstGeom>
          <a:solidFill>
            <a:srgbClr val="D4AF37"/>
          </a:solidFill>
          <a:ln/>
        </p:spPr>
      </p:sp>
      <p:sp>
        <p:nvSpPr>
          <p:cNvPr id="6" name="Text 4"/>
          <p:cNvSpPr/>
          <p:nvPr/>
        </p:nvSpPr>
        <p:spPr>
          <a:xfrm>
            <a:off x="914400" y="1645920"/>
            <a:ext cx="822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1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1920240" y="164592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Implementação backend (match-service)</a:t>
            </a:r>
            <a:pPr indent="0" marL="0">
              <a:buNone/>
            </a:pPr>
            <a:r>
              <a:rPr lang="en-US" sz="1100" i="1" dirty="0">
                <a:solidFill>
                  <a:srgbClr val="B8C5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-  Clubes, equipas, jogadores, jogos. Migrações Flyway, DTOs, controllers.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914400" y="2240280"/>
            <a:ext cx="822960" cy="457200"/>
          </a:xfrm>
          <a:prstGeom prst="rect">
            <a:avLst/>
          </a:prstGeom>
          <a:solidFill>
            <a:srgbClr val="D4AF37"/>
          </a:solidFill>
          <a:ln/>
        </p:spPr>
      </p:sp>
      <p:sp>
        <p:nvSpPr>
          <p:cNvPr id="9" name="Text 7"/>
          <p:cNvSpPr/>
          <p:nvPr/>
        </p:nvSpPr>
        <p:spPr>
          <a:xfrm>
            <a:off x="914400" y="2240280"/>
            <a:ext cx="822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2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920240" y="224028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Bilheteira completa + integração SIBS</a:t>
            </a:r>
            <a:pPr indent="0" marL="0">
              <a:buNone/>
            </a:pPr>
            <a:r>
              <a:rPr lang="en-US" sz="1100" i="1" dirty="0">
                <a:solidFill>
                  <a:srgbClr val="B8C5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-  Pagamentos MB WAY, validação JWT, códigos QR.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914400" y="2834640"/>
            <a:ext cx="822960" cy="457200"/>
          </a:xfrm>
          <a:prstGeom prst="rect">
            <a:avLst/>
          </a:prstGeom>
          <a:solidFill>
            <a:srgbClr val="D4AF37"/>
          </a:solidFill>
          <a:ln/>
        </p:spPr>
      </p:sp>
      <p:sp>
        <p:nvSpPr>
          <p:cNvPr id="12" name="Text 10"/>
          <p:cNvSpPr/>
          <p:nvPr/>
        </p:nvSpPr>
        <p:spPr>
          <a:xfrm>
            <a:off x="914400" y="2834640"/>
            <a:ext cx="822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3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920240" y="283464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Ficha técnica em tempo real</a:t>
            </a:r>
            <a:pPr indent="0" marL="0">
              <a:buNone/>
            </a:pPr>
            <a:r>
              <a:rPr lang="en-US" sz="1100" i="1" dirty="0">
                <a:solidFill>
                  <a:srgbClr val="B8C5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-  Endpoints de match sheet, lineups, ocorrências.</a:t>
            </a:r>
            <a:endParaRPr lang="en-US" sz="1300" dirty="0"/>
          </a:p>
        </p:txBody>
      </p:sp>
      <p:sp>
        <p:nvSpPr>
          <p:cNvPr id="14" name="Shape 12"/>
          <p:cNvSpPr/>
          <p:nvPr/>
        </p:nvSpPr>
        <p:spPr>
          <a:xfrm>
            <a:off x="914400" y="3429000"/>
            <a:ext cx="822960" cy="457200"/>
          </a:xfrm>
          <a:prstGeom prst="rect">
            <a:avLst/>
          </a:prstGeom>
          <a:solidFill>
            <a:srgbClr val="D4AF37"/>
          </a:solidFill>
          <a:ln/>
        </p:spPr>
      </p:sp>
      <p:sp>
        <p:nvSpPr>
          <p:cNvPr id="15" name="Text 13"/>
          <p:cNvSpPr/>
          <p:nvPr/>
        </p:nvSpPr>
        <p:spPr>
          <a:xfrm>
            <a:off x="914400" y="3429000"/>
            <a:ext cx="822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4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1920240" y="342900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Frontend e Android</a:t>
            </a:r>
            <a:pPr indent="0" marL="0">
              <a:buNone/>
            </a:pPr>
            <a:r>
              <a:rPr lang="en-US" sz="1100" i="1" dirty="0">
                <a:solidFill>
                  <a:srgbClr val="B8C5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-  Ecrãs de utilizador, geração de clientes API, app Android funcional.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914400" y="4023360"/>
            <a:ext cx="822960" cy="457200"/>
          </a:xfrm>
          <a:prstGeom prst="rect">
            <a:avLst/>
          </a:prstGeom>
          <a:solidFill>
            <a:srgbClr val="D4AF37"/>
          </a:solidFill>
          <a:ln/>
        </p:spPr>
      </p:sp>
      <p:sp>
        <p:nvSpPr>
          <p:cNvPr id="18" name="Text 16"/>
          <p:cNvSpPr/>
          <p:nvPr/>
        </p:nvSpPr>
        <p:spPr>
          <a:xfrm>
            <a:off x="914400" y="4023360"/>
            <a:ext cx="822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3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5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920240" y="402336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Statistics + RabbitMQ + Deploy</a:t>
            </a:r>
            <a:pPr indent="0" marL="0">
              <a:buNone/>
            </a:pPr>
            <a:r>
              <a:rPr lang="en-US" sz="1100" i="1" dirty="0">
                <a:solidFill>
                  <a:srgbClr val="B8C5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-  Eventos assíncronos, relatórios, deploy em produção com SU 1.º Dezembro.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0" y="5120640"/>
            <a:ext cx="12191695" cy="1737360"/>
          </a:xfrm>
          <a:prstGeom prst="rect">
            <a:avLst/>
          </a:prstGeom>
          <a:solidFill>
            <a:srgbClr val="0F2440"/>
          </a:solidFill>
          <a:ln/>
        </p:spPr>
      </p:sp>
      <p:sp>
        <p:nvSpPr>
          <p:cNvPr id="21" name="Text 19"/>
          <p:cNvSpPr/>
          <p:nvPr/>
        </p:nvSpPr>
        <p:spPr>
          <a:xfrm>
            <a:off x="914400" y="521208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D4AF3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Perguntas?</a:t>
            </a:r>
            <a:endParaRPr lang="en-US" sz="4000" dirty="0"/>
          </a:p>
        </p:txBody>
      </p:sp>
      <p:sp>
        <p:nvSpPr>
          <p:cNvPr id="22" name="Text 20"/>
          <p:cNvSpPr/>
          <p:nvPr/>
        </p:nvSpPr>
        <p:spPr>
          <a:xfrm>
            <a:off x="914400" y="60350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i="1" dirty="0">
                <a:solidFill>
                  <a:srgbClr val="B8C5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Obrigado pela atenção - Bruno Pinto &amp; Daniel Cabaça - Grupo 31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914400" y="6400800"/>
            <a:ext cx="10058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8C5D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github.com/bruno-pinto-git/tessera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Tessera - Apresentação de Progresso</dc:title>
  <dc:subject>PptxGenJS Presentation</dc:subject>
  <dc:creator>PptxGenJS</dc:creator>
  <cp:lastModifiedBy>PptxGenJS</cp:lastModifiedBy>
  <cp:revision>1</cp:revision>
  <dcterms:created xsi:type="dcterms:W3CDTF">2026-04-28T15:11:14Z</dcterms:created>
  <dcterms:modified xsi:type="dcterms:W3CDTF">2026-04-28T15:11:14Z</dcterms:modified>
</cp:coreProperties>
</file>