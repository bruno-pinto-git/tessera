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21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clubes e bilheteira digital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3657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PROGRESSO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31
</a:t>
            </a:r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Pinto, n.º 48064
</a:t>
            </a:r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Cabaça, n.º 48070
</a:t>
            </a:r>
            <a:pPr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José Faustino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ISEL | Licenciatura em Engenharia Informática e de Computadores |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Tessera?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Motivação, contexto e visão geral da solução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577840" cy="4572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13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 de futebol de divisões inferiores em Portugal enfrentam desafios operacionais por falta de ferramentas digitais.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Bilhetes em papel — custos de impressão, risco de falsificação, dificuldade no controlo de entradas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Ficha técnica preenchida à mão — erros, atrasos e dificuldade de consulta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Sem rastreio de vendas, sem historico digital, sem análise de 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577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5577840" cy="4572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4813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para gestão completa de bilheteira e ficha técnica dos jogos.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Aplicação web (React SPA) para administradores e adeptos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Aplicação Android para validação de bilhetes e ficha técnica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Bilhetes digitais com QR code (MB WAY, multibanco, dinheiro)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Registo de ocorrências do jogo em tempo real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Histórico digital de jogos e relatórios de bilheteira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59893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Caso de uso real: </a:t>
            </a:r>
            <a:pPr algn="ctr"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1.º Dezembro — clube parceiro disponível para cooperar na elaboração da solução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&amp; Perfis de utilizador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perfis distintos com necessidades diferentes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5128" y="141732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128" y="1417320"/>
            <a:ext cx="36576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706728" y="1600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6728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5128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706728" y="320040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448" y="338328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Gestão de clubes e equipas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Gestão de jogadores e plantéis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Criação de jogos e eventos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Configuração de bilheteira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Consulta de relatórios e estatísticas
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7048" y="141732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7048" y="1417320"/>
            <a:ext cx="3657600" cy="100584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38648" y="1600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8648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67048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38648" y="320040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368" y="338328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Validação de bilhetes (QR code)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Preenchimento da ficha técnica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Registo de ocorrências em tempo real (golos, cartões, substituições)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Operações no dia de jogo
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98968" y="141732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8968" y="1417320"/>
            <a:ext cx="3657600" cy="100584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1" name="Shape 19"/>
          <p:cNvSpPr/>
          <p:nvPr/>
        </p:nvSpPr>
        <p:spPr>
          <a:xfrm>
            <a:off x="9570568" y="1600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0568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98968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Adepto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70568" y="320040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3288" y="338328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Compra de bilhetes digitais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Pagamento via MB WAY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Visualização de bilhete (QR)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Consulta de jogos e resultados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Acesso a fichas técnicas
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Requisitos não funcionais: </a:t>
            </a:r>
            <a:pPr algn="ctr"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(validação rápida) - Segurança (RBAC + HTTPS) - Disponibilidade - Usabilidade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Microsserviços, BFF e isolamento de dados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D4AF37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55448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D4AF37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(staff + adeptos)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2743200" cy="640080"/>
          </a:xfrm>
          <a:prstGeom prst="roundRect">
            <a:avLst>
              <a:gd name="adj" fmla="val 7143"/>
            </a:avLst>
          </a:prstGeom>
          <a:solidFill>
            <a:srgbClr val="8B6F47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RBAC :8180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256032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:8000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+ Frontend SPA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194560"/>
            <a:ext cx="73152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2194560"/>
            <a:ext cx="-18288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2880360"/>
            <a:ext cx="1371600" cy="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1874520"/>
            <a:ext cx="1828800" cy="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0" y="35661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C73E1D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566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Service :8080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 Frontend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64008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457200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3A7D44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ticket-service :8081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Bilheteira + pagamentos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457200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3A7D44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match-service :8082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Jogos, fichas, clubes, jogadores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457200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3A7D44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statistics-service :8083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analytics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206240"/>
            <a:ext cx="-274320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26480" y="4206240"/>
            <a:ext cx="-18288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0" y="4206240"/>
            <a:ext cx="228600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" y="55778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5C7AAE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tessera_tickets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80560" y="55778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5C7AAE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tessera_matches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21040" y="55778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5C7AAE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tessera_statistics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286000" y="5212080"/>
            <a:ext cx="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26480" y="5212080"/>
            <a:ext cx="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966960" y="5212080"/>
            <a:ext cx="0" cy="365760"/>
          </a:xfrm>
          <a:prstGeom prst="line">
            <a:avLst/>
          </a:prstGeom>
          <a:noFill/>
          <a:ln w="19050">
            <a:solidFill>
              <a:srgbClr val="0F2440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com BD própria, deploy independente, comunicação via REST síncrono entre BFF e serviços internos.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e domínio de cada serviço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137160" cy="10515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Service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:8080  </a:t>
            </a:r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BD)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C73E1D"/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 Frontend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entrada único para a API. Adapta respostas a cada cliente, agrega chamadas a múltiplos serviços.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1143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97480"/>
            <a:ext cx="137160" cy="105156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Service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:8081  </a:t>
            </a:r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tessera_tickets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Bilheteira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880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compra de bilhetes (PENDING → PAID → VALIDATED), validação por QR code, pagamentos.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1143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40480"/>
            <a:ext cx="137160" cy="105156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Service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:8082  </a:t>
            </a:r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tessera_matches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17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desportiva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023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equipas, jogadores, jogos, fichas técnicas e ocorrências (golos, cartões, substituições).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983480"/>
            <a:ext cx="1143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983480"/>
            <a:ext cx="137160" cy="105156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Service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:8083  </a:t>
            </a:r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tessera_statistics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76072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760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relatórios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5166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leitura. Relatórios de bilheteira, estatísticas de jogos e jogadores, histórico.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Decisão: </a:t>
            </a:r>
            <a:pPr algn="ctr"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equipas e jogadores vivem dentro do match-service (em vez de serviço separado) — são consumidos quase exclusivamente pela ficha técnica.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selecionadas para cada componente do sistema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Kotlin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3.4.4 / 1.9.25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 + Vite + Tailwind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0" y="15544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05740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(Kotlin + Compose)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0574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0574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05740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9244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(Alpine)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20574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5603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56032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MIGRAÇÕES BD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2560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5603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5603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56032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2560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(OIDC + OAuth2)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64240" y="25603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06324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06324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402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(Alpine)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30632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306324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06324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9244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064240" y="30632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356616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402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(Kotlin DSL)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35661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356616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356616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9244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Temurin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064240" y="35661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0690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406908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4069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24028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+ Redocly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12080" y="40690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40690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4069080"/>
            <a:ext cx="1554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0" y="4069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9244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1064240" y="40690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feito - Infraestrutura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completo de Docker, NGINX e Keycloak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50876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002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containers orquestrados — 4 serviços backend, 3 BDs, NGINX, Keycloak. Rede interna com DNS, volumes persistentes, health checks.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46888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5603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como reverse proxy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8803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/api/* → BFF, /realms/* + /admin/* → Keycloak, /* → React SPA. Frontend embutido na imagem (multi-stage build).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80160" y="342900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520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— autenticação e autorização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8404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'tessera' com 3 roles (admin, staff, fan), 3 clients (web, android, bff) com PKCE, 3 utilizadores de teste, importação automática.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438912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480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automação (PowerShell)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8006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buildAll.ps1, start.ps1, stop.ps1, reset.ps1 e scripts individuais por serviço (reset_xxx_service.ps1) para builds e gestão de containers.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534924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54406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7607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documentos Markdown — architecture, docker, nginx, keycloak, scripts, getting-started — atualizados à medida que o projeto evolui.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feito - Backend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monólito para microsserviços e proxy BFF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5C5C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291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monolítico
</a:t>
            </a:r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Kotlin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2 entidades: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Event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Ticket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básicos:
</a:t>
            </a:r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POST /api/tickets
</a:t>
            </a:r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POST /api/tickets/validate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3703320"/>
            <a:ext cx="548640" cy="365760"/>
          </a:xfrm>
          <a:prstGeom prst="rightTriangl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6949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6949440" cy="4572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ATUAL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6583680" cy="640080"/>
          </a:xfrm>
          <a:prstGeom prst="rect">
            <a:avLst/>
          </a:prstGeom>
          <a:solidFill>
            <a:srgbClr val="F5F2EA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103120"/>
            <a:ext cx="109728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bff-service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+ agregação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2880360"/>
            <a:ext cx="6583680" cy="640080"/>
          </a:xfrm>
          <a:prstGeom prst="rect">
            <a:avLst/>
          </a:prstGeom>
          <a:solidFill>
            <a:srgbClr val="F5F2EA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880360"/>
            <a:ext cx="109728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Bilhetes digitais, QR, pagamento, validação, eventos RabbitMQ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657600"/>
            <a:ext cx="6583680" cy="640080"/>
          </a:xfrm>
          <a:prstGeom prst="rect">
            <a:avLst/>
          </a:prstGeom>
          <a:solidFill>
            <a:srgbClr val="F5F2EA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657600"/>
            <a:ext cx="109728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match-service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equipas, jogadores, jogos + ficha técnica e ocorrências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3840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4434840"/>
            <a:ext cx="6583680" cy="640080"/>
          </a:xfrm>
          <a:prstGeom prst="rect">
            <a:avLst/>
          </a:prstGeom>
          <a:solidFill>
            <a:srgbClr val="F5F2EA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4434840"/>
            <a:ext cx="109728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statistics-service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Read-side de relatórios + vendas (consumidor RabbitMQ)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5486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Cada serviço: </a:t>
            </a:r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própria + Flyway migrations + Dockerfile + build script + reset script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feito - Especificação da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OpenAPI 3.1 como fonte de verdade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contract-first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especificação OpenAPI é o contrato vinculativo entre os 3 consumidores (web, android, BFF) e a backend. A implementação deriva da spec.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endpoints e schemas em YAML (docs/api/)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Spectral (linter de OpenAPI)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documentação HTML interativa (Redocly)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Swagger UI no BFF (/api/docs)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clientes tipados (TypeScript + Kotlin)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554480"/>
            <a:ext cx="53949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554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DA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19456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Match-service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/clubs - clubes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/teams - equipas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/players - jogadores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/venues - estádios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/matches - jogos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/matches/{id}/sheet - ficha técnica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Ticket-service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/tickets · /tickets/mine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/tickets/{id}/pay · /tickets/validate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/events catalog (admin)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Statistics-service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/stats/match-sheets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/stats/sales/summary · /by-match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/stats/sales/range?from=&amp;to=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Convenções: </a:t>
            </a:r>
            <a:pPr algn="ctr"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/api/v1 - camelCase - ISO 8601 - Problem Details (RFC 7807) - JWT Bearer (Keycloak)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principais por contexto (BD por serviço)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9408" y="141732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408" y="1417320"/>
            <a:ext cx="3749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8940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288" y="2011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foundedYear, crestUrl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288" y="2606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clubId,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288" y="3200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teamId, name, position, shirtNumber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288" y="3794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capacity, address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288" y="4389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homeTeamId, awayTeamId, kickoffAt, 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288" y="4983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MatchSheet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matchId, locked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288" y="5577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minute, type (GOAL/CARD/SUB)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1328" y="141732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1328" y="1417320"/>
            <a:ext cx="3749040" cy="4572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7" name="Text 15"/>
          <p:cNvSpPr/>
          <p:nvPr/>
        </p:nvSpPr>
        <p:spPr>
          <a:xfrm>
            <a:off x="422132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4208" y="2011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matchId, name, priceNormal, priceSupporter, status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4208" y="2606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eventId, code (UUID), price, status, ownerSub, validatorSub, paymentMethod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04208" y="3337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4208" y="3703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(criado, aguarda pagamento)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4208" y="4297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(pagamento confirmado)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04208" y="4892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(usado à entrada)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3248" y="141732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3248" y="1417320"/>
            <a:ext cx="3749040" cy="4572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6" name="Text 24"/>
          <p:cNvSpPr/>
          <p:nvPr/>
        </p:nvSpPr>
        <p:spPr>
          <a:xfrm>
            <a:off x="815324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36128" y="2011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MatchSummary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matchId, season, status, kickoff, scores, refereeName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6128" y="2606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LineupSnapshot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matchId, playerId, teamId, role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6128" y="3200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OccurrenceSnapshot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matchId, minute, type (GOAL/CARD/SUB)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36128" y="3794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TicketSale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ticketId, eventId, matchId, price, paidAt, validatedAt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36128" y="4526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read-only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alimentadas via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6128" y="5120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events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(implementado)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end-to-end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a correr localmente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332720" cy="2788920"/>
          </a:xfrm>
          <a:prstGeom prst="roundRect">
            <a:avLst>
              <a:gd name="adj" fmla="val 3279"/>
            </a:avLst>
          </a:prstGeom>
          <a:solidFill>
            <a:srgbClr val="1A1A1A"/>
          </a:solidFill>
          <a:ln w="25400">
            <a:solidFill>
              <a:srgbClr val="0F24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.\scripts\run\start.ps1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[OK] Building all services... 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(buildAll.ps1)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bff-service          : SUCCESS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ticket-service       : SUCCESS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match-service        : SUCCESS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statistics-service   : SUCCESS
</a:t>
            </a:r>
            <a:pPr indent="0" marL="0">
              <a:buNone/>
            </a:pPr>
            <a:r>
              <a:rPr lang="en-US" sz="1000" dirty="0">
                <a:solidFill>
                  <a:srgbClr val="97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Starting Docker containers...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9 containers running on tessera-net
</a:t>
            </a:r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services are up!
</a:t>
            </a:r>
            <a:pPr indent="0" marL="0">
              <a:buNone/>
            </a:pPr>
            <a:r>
              <a:rPr lang="en-US" sz="1000" dirty="0">
                <a:solidFill>
                  <a:srgbClr val="97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App:       http://localhost:8000
</a:t>
            </a:r>
            <a:pPr indent="0" marL="0">
              <a:buNone/>
            </a:pPr>
            <a:r>
              <a:rPr lang="en-US" sz="1000" dirty="0">
                <a:solidFill>
                  <a:srgbClr val="97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BFF API:   http://localhost:8000/api
</a:t>
            </a:r>
            <a:pPr indent="0" marL="0">
              <a:buNone/>
            </a:pPr>
            <a:r>
              <a:rPr lang="en-US" sz="1000" dirty="0">
                <a:solidFill>
                  <a:srgbClr val="97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Keycloak:  http://localhost:8180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em vivo: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11247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Frontend React acessível em http://localhost:8000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Login via Keycloak com 3 utilizadores diferentes (admin, staff, adepto) — JWT contém roles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Compra de bilhete: SPA → NGINX → BFF → ticket-service → PostgreSQL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Validação de bilhete por UUID — alteração de estado PAID → VALIDATED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Consola de admin do Keycloak para gestão de utilizadores e roles
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 enfrentados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reais e como foram resolvidos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137160" cy="9144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Problema: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 gradlew falhava em Alpine Linux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Causa: 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BusyBox sh não interpreta corretamente os JVM args do gradlew (DEFAULT_JVM_OPTS com quotes aninhadas)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Solução: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Adotámos abordagem runtime-only: build do JAR na máquina local, Dockerfile apenas COPY do JAR pré-compilado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23160"/>
            <a:ext cx="137160" cy="9144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Problema: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retornava 404 em /api/ e /realms/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Causa: 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base do NGINX inclui um default.conf com server block na porta 80 que intercetava os pedidos antes da nossa configuração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Solução: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Adicionámos RUN rm /etc/nginx/conf.d/default.conf no Dockerfile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383280"/>
            <a:ext cx="137160" cy="9144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Problema: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do Keycloak sem claim "sub"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Causa: 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realm-export não tinha mapper para "sub"; jwt.subject vinha null e rebentava NPE no ticket-service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Solução: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Adicionámos protocol mapper "sub" no realm + fallback chain (sub → preferred_username) no helper userIdOf()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343400"/>
            <a:ext cx="137160" cy="9144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Problema: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 sem prefixo /auth/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Causa: 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contrário das versões &lt; 25, o Keycloak 26 serve diretamente em /realms/, /admin/, /resources/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Solução: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Atualizámos a configuração NGINX com locations explícitos para cada caminho do Keycloak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530352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303520"/>
            <a:ext cx="137160" cy="9144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Problema: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no browser ao chamar a API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Causa: 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chamava http://localhost:8080 diretamente, gerando cross-origin request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Solução: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Mudámos o frontend para path relativo /api — todos os pedidos passam pelo NGINX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fazer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em falta e próximos passos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9408" y="141732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408" y="1417320"/>
            <a:ext cx="3749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8940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8008" y="2057400"/>
            <a:ext cx="3291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Integração real com gateway SIBS (webhook callback)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Dead-letter queue + retry nos consumers RabbitMQ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Tracing distribuído (traceId nos eventos)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Reports avançados (top scorers, attendance)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Refund flow (VALIDATED → REFUNDED por admin)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Limite de capacidade por evento (row-lock)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Testes (unitários + integração)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1328" y="141732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1328" y="1417320"/>
            <a:ext cx="3749040" cy="4572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1" name="Text 9"/>
          <p:cNvSpPr/>
          <p:nvPr/>
        </p:nvSpPr>
        <p:spPr>
          <a:xfrm>
            <a:off x="422132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MOBILE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49928" y="2057400"/>
            <a:ext cx="3291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Painéis admin: clubes, equipas, jogadores (CRUD)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Substituir mocks por queries reais ao API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Camera scanning real no /validate (jsQR / zxing)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 Android: validação de QR (staff)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 Android: ficha técnica em tempo real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 Android: visualização de bilhetes (adeptos)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Geração de cliente TypeScript a partir do OpenAPI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3248" y="141732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3248" y="1417320"/>
            <a:ext cx="3749040" cy="4572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5" name="Text 13"/>
          <p:cNvSpPr/>
          <p:nvPr/>
        </p:nvSpPr>
        <p:spPr>
          <a:xfrm>
            <a:off x="815324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DELIVERY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1848" y="2057400"/>
            <a:ext cx="3291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Configurar HTTPS (certificado SSL)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Pipeline CI/CD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Substituir BD H2 do Keycloak por PostgreSQL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Logs centralizados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Deploy em ambiente de produção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Documentação de utilizador final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Validação com SU 1.º Dezembro
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&amp; Planeamento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3657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822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match-service  ✓</a:t>
            </a:r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Clubes, equipas, jogadores, jogos, ficha técnica, ocorrências, auto-lock.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822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Bilhetes digitais (ticket-service)  ✓</a:t>
            </a:r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Ownership por JWT, QR, pay flow, validação. Gateway SIBS real fica para depois.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822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+ RabbitMQ events  ✓</a:t>
            </a:r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Read-side de relatórios e vendas via eventos AMQP (CQRS event-driven).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822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29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Android  (em curso)</a:t>
            </a:r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SPA P3 implementada do handoff Claude Design. Wire-up API real + Android em curso.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822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 real + Deploy + SU 1.º Dezembro</a:t>
            </a:r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Integração real com gateway de pagamento, HTTPS, CI/CD, deploy + validação com o clube parceiro.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 - Bruno Pinto &amp; Daniel Cabaça - Grupo 31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github.com/bruno-pinto-git/tessera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3716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feito - Frontend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a partir do handoff do Claude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50876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002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tokens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(CSS-first) + shadcn/ui (new-york style). Paleta OKLCH com 4 cores semânticas (pending, paid, validated, cancelled). Dark mode via classe .dark. Tokens em src/index.css.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46888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5603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 de jogos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8803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/events com filtros (Todos / Em casa / Fora / Esta semana) + search. /events/:id com hero, tabela de preços (Normal/Sócio) e admin sales card. Crests geométricos por clube.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80160" y="342900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520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compra em 3 passos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8404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stepper (shadcn Dialog): escolher tier → método de pagamento (MBWAY/Cartão/Dinheiro) → confirmação com QR. Integrado com POST /tickets e POST /tickets/{id}/pay.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438912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480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meus bilhetes" + QR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8006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/tickets/mine agrupado por estado (Prontos, Aguarda pagamento, Histórico). QR renderizado client-side com qrcode.react sobre o code UUID do bilhete. Card com stub perfurado tipo bilhete real.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534924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54406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no portão (staff)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7607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/validate mobile-first com 3 estados visuais (idle/success/reject), ligado ao POST /tickets/validate. Verde com check para PAID→VALIDATED, vermelho com X para já-usado / inválido / 404.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| Projeto e Seminário | Grupo 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Tessera - Apresentação de Progresso</dc:title>
  <dc:subject>PptxGenJS Presentation</dc:subject>
  <dc:creator>PptxGenJS</dc:creator>
  <cp:lastModifiedBy>PptxGenJS</cp:lastModifiedBy>
  <cp:revision>1</cp:revision>
  <dcterms:created xsi:type="dcterms:W3CDTF">2026-04-28T15:11:14Z</dcterms:created>
  <dcterms:modified xsi:type="dcterms:W3CDTF">2026-04-28T15:11:14Z</dcterms:modified>
</cp:coreProperties>
</file>